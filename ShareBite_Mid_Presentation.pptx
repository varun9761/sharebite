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respected evaluators. In our initial presentation, we covered the high-level problem statement and objectives of ShareBite. Today, in this mid-term evaluation, we are going deep into the engineering implementation: the complete system architecture, database schema, mathematical algorithms, and the actual code logic powering geolocation, fraud prevention, and food safety.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agenda for this review. We will not dwell on high-level theory. Instead, we will walk you through the concrete system design, our database tables, the core mathematical formulas, our security mechanisms, and the actual code snippets that make ShareBite function.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cleanly separated into three tiers. The frontend uses React 19 with Leaflet for rendering interactive spatial maps. The backend is a Node.js Express 5 service acting as an orchestrator between our database and free external GIS services like OpenStreetMap Overpass and OSRM. Crucially, our persistence layer uses a dual-mode strategy: if PostgreSQL is connected, it runs full ACID migrations; if offline or during zero-config testing, it gracefully falls back to an in-memory repository without throwing runtime errors.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you see our relational data model and the core State Machine. Each food listing strictly transitions through 4 deterministic states: PENDING, CLAIMED, PICKED_UP, or EXPIRED. Notice that timestamps are preserved at each transition: prepared_at, expires_at, claimed_at, and picked_up_at. This gives us a complete audit trail for compliance and safety investigations.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Algorithm 1. Instead of assuming the Earth is flat, we implement the Haversine formula directly in JavaScript. It takes the donor latitude/longitude and user GPS coordinates, converts angular degrees to radians, computes the spherical arc length, and multiplies by the Earth radius of 6371 kilometers. This allows sub-millisecond filtering across thousands of locations without needing heavy GIS servers.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you see how we achieve dynamic NGO discovery without charging money or maintaining a manual database. We construct an Overpass QL query dynamically based on the volunteer's GPS coordinates and search radius. To guarantee high availability, we use a 5-second AbortController: if the public Overpass server is sluggish, the request aborts cleanly and the app seamlessly falls back to our verified internal database.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Food safety is our primary non-functional constraint. We do not rely on donors to remember to delete listings. A background daemon runs on the server every single minute. The moment a batch passes its safe-by timestamp, it is atomically marked 'expired'. This completely removes it from the volunteer feed so no one consumes spoiled food.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classic evaluator question: 'What happens if two people claim at the same time, and how do you prevent theft?' We use an atomic SQL conditional update: `WHERE id = $3 AND status = 'pending'`. Only one transaction can change the row. Then, we generate a 6-digit cryptographic OTP using Node's crypto library. The volunteer presents this OTP in person, and the donor enters it to unlock the pickup.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security and Role-Based Access Control, we hash passwords using bcrypt with a cost factor of 10. Upon login, the server issues a signed JWT token containing the user's role. Our Express middleware verifies this token on every protected API call. Notice that we allow public browsing so anyone can view food availability, but claiming, posting, and admin actions strictly require a validated token.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frontend, we use React 19 and Leaflet. When the user changes their location or adjusts the radius slider, we use `Promise.all` to fetch listings, NGOs, and donor spots in parallel, preventing waterfall bottlenecks. The map renders distinct custom markers: a pulsing blue radar for the user's live position, orange for food, blue for NGOs, and green for donating venues.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NGO claims a batch, we don't just give them an address. Clicking 'Get Driving Directions' invokes our OSRM route service. The backend queries the Open Source Routing Machine, extracts the GeoJSON geometry, distance, and duration, and our frontend instantly renders a driving polyline on the map. This helps volunteers plan their rescue route before food expires.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empirical verification results across boundary cases. We tested concurrent double-claims, food shelf-life expiry, external API timeouts, complete database outages, GPS permission denial, and invalid OTP attempts. In every scenario, the application handled the condition gracefully without crashing.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gives the evaluators a clear breakdown of where the project stands today. Modules A through E — the full food lifecycle, geospatial queries, OTP verification, safety cron jobs, and impact certificates — are 100% completed and working. We are currently at approximately 85% overall completion for the entire project scope.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our final evaluation, we have four concrete deliverables: replacing HTTP polling with WebSockets for instant notifications, benchmarking PostGIS spatial indexing for high-load scalability, releasing a Progressive Web App for field volunteers, and exploring IoT cold-chain temperature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respected faculty. Our codebase, database migrations, and IEEE 830 specifications are ready for your inspection. We welcome your questions and suggestions for our final phase.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3291840" cy="411480"/>
          </a:xfrm>
          <a:prstGeom prst="roundRect">
            <a:avLst/>
          </a:prstGeom>
          <a:solidFill>
            <a:srgbClr val="1E293B"/>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200" b="1">
                <a:solidFill>
                  <a:srgbClr val="059669"/>
                </a:solidFill>
              </a:defRPr>
            </a:pPr>
            <a:r>
              <a:t>MID-TERM PROJECT EVALUATION</a:t>
            </a:r>
          </a:p>
        </p:txBody>
      </p:sp>
      <p:sp>
        <p:nvSpPr>
          <p:cNvPr id="4" name="TextBox 3"/>
          <p:cNvSpPr txBox="1"/>
          <p:nvPr/>
        </p:nvSpPr>
        <p:spPr>
          <a:xfrm>
            <a:off x="1097280" y="1645920"/>
            <a:ext cx="10058400" cy="2011680"/>
          </a:xfrm>
          <a:prstGeom prst="rect">
            <a:avLst/>
          </a:prstGeom>
          <a:noFill/>
        </p:spPr>
        <p:txBody>
          <a:bodyPr wrap="square">
            <a:spAutoFit/>
          </a:bodyPr>
          <a:lstStyle/>
          <a:p>
            <a:pPr>
              <a:defRPr sz="3600" b="1">
                <a:solidFill>
                  <a:srgbClr val="FFFFFF"/>
                </a:solidFill>
              </a:defRPr>
            </a:pPr>
            <a:r>
              <a:t>ShareBite: Technical Architecture &amp; Core Logic</a:t>
            </a:r>
          </a:p>
          <a:p>
            <a:pPr>
              <a:spcBef>
                <a:spcPts val="800"/>
              </a:spcBef>
              <a:defRPr sz="1800">
                <a:solidFill>
                  <a:srgbClr val="64748B"/>
                </a:solidFill>
              </a:defRPr>
            </a:pPr>
            <a:r>
              <a:t>Real-Time Surplus Food Recovery &amp; Non-Profit Redistribution Platform</a:t>
            </a:r>
          </a:p>
        </p:txBody>
      </p:sp>
      <p:sp>
        <p:nvSpPr>
          <p:cNvPr id="5" name="Rounded Rectangle 4"/>
          <p:cNvSpPr/>
          <p:nvPr/>
        </p:nvSpPr>
        <p:spPr>
          <a:xfrm>
            <a:off x="1097280" y="3931920"/>
            <a:ext cx="996696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365760" tIns="274320"/>
          <a:lstStyle/>
          <a:p>
            <a:pPr algn="ctr">
              <a:defRPr b="1" sz="1400">
                <a:solidFill>
                  <a:srgbClr val="059669"/>
                </a:solidFill>
              </a:defRPr>
            </a:pPr>
            <a:r>
              <a:t>System Engineering Highlights:</a:t>
            </a:r>
          </a:p>
          <a:p>
            <a:pPr>
              <a:spcBef>
                <a:spcPts val="400"/>
              </a:spcBef>
            </a:pPr>
            <a:r>
              <a:rPr b="1" sz="1100">
                <a:solidFill>
                  <a:srgbClr val="FFFFFF"/>
                </a:solidFill>
              </a:rPr>
              <a:t>• Architecture: </a:t>
            </a:r>
            <a:r>
              <a:rPr sz="1100">
                <a:solidFill>
                  <a:srgbClr val="F1F5F9"/>
                </a:solidFill>
              </a:rPr>
              <a:t>Decoupled React 19 Frontend + Express 5 Node.js REST API + PostgreSQL Dual-Mode</a:t>
            </a:r>
          </a:p>
          <a:p>
            <a:pPr>
              <a:spcBef>
                <a:spcPts val="400"/>
              </a:spcBef>
            </a:pPr>
            <a:r>
              <a:rPr b="1" sz="1100">
                <a:solidFill>
                  <a:srgbClr val="FFFFFF"/>
                </a:solidFill>
              </a:rPr>
              <a:t>• Geospatial Services: </a:t>
            </a:r>
            <a:r>
              <a:rPr sz="1100">
                <a:solidFill>
                  <a:srgbClr val="F1F5F9"/>
                </a:solidFill>
              </a:rPr>
              <a:t>OpenStreetMap Overpass QL Discovery + Nominatim Reverse Geocoding + OSRM Polylines</a:t>
            </a:r>
          </a:p>
          <a:p>
            <a:pPr>
              <a:spcBef>
                <a:spcPts val="400"/>
              </a:spcBef>
            </a:pPr>
            <a:r>
              <a:rPr b="1" sz="1100">
                <a:solidFill>
                  <a:srgbClr val="FFFFFF"/>
                </a:solidFill>
              </a:rPr>
              <a:t>• Security &amp; Safety: </a:t>
            </a:r>
            <a:r>
              <a:rPr sz="1100">
                <a:solidFill>
                  <a:srgbClr val="F1F5F9"/>
                </a:solidFill>
              </a:rPr>
              <a:t>2-Party Cryptographic 6-Digit OTP Handover + Automated node-cron Food Shelf-Life Sweeper</a:t>
            </a:r>
          </a:p>
          <a:p>
            <a:pPr>
              <a:spcBef>
                <a:spcPts val="400"/>
              </a:spcBef>
            </a:pPr>
            <a:r>
              <a:rPr b="1" sz="1100">
                <a:solidFill>
                  <a:srgbClr val="FFFFFF"/>
                </a:solidFill>
              </a:rPr>
              <a:t>• Standards: </a:t>
            </a:r>
            <a:r>
              <a:rPr sz="1100">
                <a:solidFill>
                  <a:srgbClr val="F1F5F9"/>
                </a:solidFill>
              </a:rPr>
              <a:t>Strict Conformance to IEEE Std 830-1998 Software Requirements Specifications (SRS)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065F46"/>
                </a:solidFill>
              </a:defRPr>
            </a:pPr>
            <a:r>
              <a:t>SHAREBITE • MID-TERM REVIEW</a:t>
            </a:r>
          </a:p>
        </p:txBody>
      </p:sp>
      <p:sp>
        <p:nvSpPr>
          <p:cNvPr id="4" name="TextBox 3"/>
          <p:cNvSpPr txBox="1"/>
          <p:nvPr/>
        </p:nvSpPr>
        <p:spPr>
          <a:xfrm>
            <a:off x="731520" y="731520"/>
            <a:ext cx="10515600" cy="548640"/>
          </a:xfrm>
          <a:prstGeom prst="rect">
            <a:avLst/>
          </a:prstGeom>
          <a:noFill/>
        </p:spPr>
        <p:txBody>
          <a:bodyPr wrap="square" lIns="0" tIns="0" rIns="0" bIns="0">
            <a:spAutoFit/>
          </a:bodyPr>
          <a:lstStyle/>
          <a:p>
            <a:pPr>
              <a:defRPr sz="2400" b="1">
                <a:solidFill>
                  <a:srgbClr val="0F172A"/>
                </a:solidFill>
              </a:defRPr>
            </a:pPr>
            <a:r>
              <a:t>Mid-Term Review Agenda: Moving from Concepts to Code</a:t>
            </a:r>
          </a:p>
        </p:txBody>
      </p:sp>
      <p:sp>
        <p:nvSpPr>
          <p:cNvPr id="5" name="Rounded Rectangle 4"/>
          <p:cNvSpPr/>
          <p:nvPr/>
        </p:nvSpPr>
        <p:spPr>
          <a:xfrm>
            <a:off x="731520" y="164592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b="1" sz="1300">
                <a:solidFill>
                  <a:srgbClr val="065F46"/>
                </a:solidFill>
              </a:defRPr>
            </a:pPr>
            <a:r>
              <a:t>1. Architecture &amp; Data Flow</a:t>
            </a:r>
          </a:p>
          <a:p>
            <a:pPr>
              <a:spcBef>
                <a:spcPts val="800"/>
              </a:spcBef>
              <a:defRPr sz="1100">
                <a:solidFill>
                  <a:srgbClr val="334155"/>
                </a:solidFill>
              </a:defRPr>
            </a:pPr>
            <a:r>
              <a:t>Full-stack decoupled design, client-server communication, and dual-mode data persistence.</a:t>
            </a:r>
          </a:p>
        </p:txBody>
      </p:sp>
      <p:sp>
        <p:nvSpPr>
          <p:cNvPr id="6" name="Rounded Rectangle 5"/>
          <p:cNvSpPr/>
          <p:nvPr/>
        </p:nvSpPr>
        <p:spPr>
          <a:xfrm>
            <a:off x="4297680" y="164592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b="1" sz="1300">
                <a:solidFill>
                  <a:srgbClr val="2563EB"/>
                </a:solidFill>
              </a:defRPr>
            </a:pPr>
            <a:r>
              <a:t>2. Relational Schema &amp; Models</a:t>
            </a:r>
          </a:p>
          <a:p>
            <a:pPr>
              <a:spcBef>
                <a:spcPts val="800"/>
              </a:spcBef>
              <a:defRPr sz="1100">
                <a:solidFill>
                  <a:srgbClr val="334155"/>
                </a:solidFill>
              </a:defRPr>
            </a:pPr>
            <a:r>
              <a:t>PostgreSQL tables (users, listings, ngos, donors) and strict state machine lifecycle.</a:t>
            </a:r>
          </a:p>
        </p:txBody>
      </p:sp>
      <p:sp>
        <p:nvSpPr>
          <p:cNvPr id="7" name="Rounded Rectangle 6"/>
          <p:cNvSpPr/>
          <p:nvPr/>
        </p:nvSpPr>
        <p:spPr>
          <a:xfrm>
            <a:off x="7863840" y="164592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b="1" sz="1300">
                <a:solidFill>
                  <a:srgbClr val="D97706"/>
                </a:solidFill>
              </a:defRPr>
            </a:pPr>
            <a:r>
              <a:t>3. Algorithms &amp; Math Logic</a:t>
            </a:r>
          </a:p>
          <a:p>
            <a:pPr>
              <a:spcBef>
                <a:spcPts val="800"/>
              </a:spcBef>
              <a:defRPr sz="1100">
                <a:solidFill>
                  <a:srgbClr val="334155"/>
                </a:solidFill>
              </a:defRPr>
            </a:pPr>
            <a:r>
              <a:t>Haversine spherical distance formula, Overpass QL live queries, and caching mechanisms.</a:t>
            </a:r>
          </a:p>
        </p:txBody>
      </p:sp>
      <p:sp>
        <p:nvSpPr>
          <p:cNvPr id="8" name="Rounded Rectangle 7"/>
          <p:cNvSpPr/>
          <p:nvPr/>
        </p:nvSpPr>
        <p:spPr>
          <a:xfrm>
            <a:off x="731520" y="393192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b="1" sz="1300">
                <a:solidFill>
                  <a:srgbClr val="065F46"/>
                </a:solidFill>
              </a:defRPr>
            </a:pPr>
            <a:r>
              <a:t>4. Concurrency &amp; Security</a:t>
            </a:r>
          </a:p>
          <a:p>
            <a:pPr>
              <a:spcBef>
                <a:spcPts val="800"/>
              </a:spcBef>
              <a:defRPr sz="1100">
                <a:solidFill>
                  <a:srgbClr val="334155"/>
                </a:solidFill>
              </a:defRPr>
            </a:pPr>
            <a:r>
              <a:t>Atomic reservation to eliminate race conditions, 6-digit OTP verification, and JWT/bcrypt RBAC.</a:t>
            </a:r>
          </a:p>
        </p:txBody>
      </p:sp>
      <p:sp>
        <p:nvSpPr>
          <p:cNvPr id="9" name="Rounded Rectangle 8"/>
          <p:cNvSpPr/>
          <p:nvPr/>
        </p:nvSpPr>
        <p:spPr>
          <a:xfrm>
            <a:off x="4297680" y="393192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b="1" sz="1300">
                <a:solidFill>
                  <a:srgbClr val="2563EB"/>
                </a:solidFill>
              </a:defRPr>
            </a:pPr>
            <a:r>
              <a:t>5. Background Daemons</a:t>
            </a:r>
          </a:p>
          <a:p>
            <a:pPr>
              <a:spcBef>
                <a:spcPts val="800"/>
              </a:spcBef>
              <a:defRPr sz="1100">
                <a:solidFill>
                  <a:srgbClr val="334155"/>
                </a:solidFill>
              </a:defRPr>
            </a:pPr>
            <a:r>
              <a:t>node-cron automated safety sweeper running every 60s to prevent stale food consumption.</a:t>
            </a:r>
          </a:p>
        </p:txBody>
      </p:sp>
      <p:sp>
        <p:nvSpPr>
          <p:cNvPr id="10" name="Rounded Rectangle 9"/>
          <p:cNvSpPr/>
          <p:nvPr/>
        </p:nvSpPr>
        <p:spPr>
          <a:xfrm>
            <a:off x="7863840" y="393192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b="1" sz="1300">
                <a:solidFill>
                  <a:srgbClr val="D97706"/>
                </a:solidFill>
              </a:defRPr>
            </a:pPr>
            <a:r>
              <a:t>6. Current Progress &amp; Milestones</a:t>
            </a:r>
          </a:p>
          <a:p>
            <a:pPr>
              <a:spcBef>
                <a:spcPts val="800"/>
              </a:spcBef>
              <a:defRPr sz="1100">
                <a:solidFill>
                  <a:srgbClr val="334155"/>
                </a:solidFill>
              </a:defRPr>
            </a:pPr>
            <a:r>
              <a:t>Working modules breakdown, edge-case testing verification, and roadmap for final review.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065F46"/>
                </a:solidFill>
              </a:defRPr>
            </a:pPr>
            <a:r>
              <a:t>SHAREBITE • MID-TERM REVIEW</a:t>
            </a:r>
          </a:p>
        </p:txBody>
      </p:sp>
      <p:sp>
        <p:nvSpPr>
          <p:cNvPr id="4" name="TextBox 3"/>
          <p:cNvSpPr txBox="1"/>
          <p:nvPr/>
        </p:nvSpPr>
        <p:spPr>
          <a:xfrm>
            <a:off x="731520" y="731520"/>
            <a:ext cx="10515600" cy="548640"/>
          </a:xfrm>
          <a:prstGeom prst="rect">
            <a:avLst/>
          </a:prstGeom>
          <a:noFill/>
        </p:spPr>
        <p:txBody>
          <a:bodyPr wrap="square" lIns="0" tIns="0" rIns="0" bIns="0">
            <a:spAutoFit/>
          </a:bodyPr>
          <a:lstStyle/>
          <a:p>
            <a:pPr>
              <a:defRPr sz="2400" b="1">
                <a:solidFill>
                  <a:srgbClr val="0F172A"/>
                </a:solidFill>
              </a:defRPr>
            </a:pPr>
            <a:r>
              <a:t>System Architecture: Decoupled Multi-Tier Topology</a:t>
            </a:r>
          </a:p>
        </p:txBody>
      </p:sp>
      <p:sp>
        <p:nvSpPr>
          <p:cNvPr id="5" name="Rounded Rectangle 4"/>
          <p:cNvSpPr/>
          <p:nvPr/>
        </p:nvSpPr>
        <p:spPr>
          <a:xfrm>
            <a:off x="731520" y="164592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b="1" sz="1300">
                <a:solidFill>
                  <a:srgbClr val="0F172A"/>
                </a:solidFill>
              </a:defRPr>
            </a:pPr>
            <a:r>
              <a:t>Tier 1: Frontend Client</a:t>
            </a:r>
          </a:p>
          <a:p>
            <a:pPr>
              <a:defRPr b="1" sz="1000">
                <a:solidFill>
                  <a:srgbClr val="059669"/>
                </a:solidFill>
              </a:defRPr>
            </a:pPr>
            <a:r>
              <a:t>React 19 + Vite + Tailwind</a:t>
            </a:r>
          </a:p>
          <a:p>
            <a:pPr>
              <a:spcBef>
                <a:spcPts val="600"/>
              </a:spcBef>
              <a:defRPr sz="1050">
                <a:solidFill>
                  <a:srgbClr val="334155"/>
                </a:solidFill>
              </a:defRPr>
            </a:pPr>
            <a:r>
              <a:t>• Single Page Application with sub-250ms Vite HMR</a:t>
            </a:r>
          </a:p>
          <a:p>
            <a:pPr>
              <a:spcBef>
                <a:spcPts val="600"/>
              </a:spcBef>
              <a:defRPr sz="1050">
                <a:solidFill>
                  <a:srgbClr val="334155"/>
                </a:solidFill>
              </a:defRPr>
            </a:pPr>
            <a:r>
              <a:t>• Leaflet &amp; React-Leaflet interactive canvas</a:t>
            </a:r>
          </a:p>
          <a:p>
            <a:pPr>
              <a:spcBef>
                <a:spcPts val="600"/>
              </a:spcBef>
              <a:defRPr sz="1050">
                <a:solidFill>
                  <a:srgbClr val="334155"/>
                </a:solidFill>
              </a:defRPr>
            </a:pPr>
            <a:r>
              <a:t>• Custom pulsing radar GPS locator pins</a:t>
            </a:r>
          </a:p>
          <a:p>
            <a:pPr>
              <a:spcBef>
                <a:spcPts val="600"/>
              </a:spcBef>
              <a:defRPr sz="1050">
                <a:solidFill>
                  <a:srgbClr val="334155"/>
                </a:solidFill>
              </a:defRPr>
            </a:pPr>
            <a:r>
              <a:t>• Tabbed discovery: Surplus Food, NGOs, Donors</a:t>
            </a:r>
          </a:p>
          <a:p>
            <a:pPr>
              <a:spcBef>
                <a:spcPts val="600"/>
              </a:spcBef>
              <a:defRPr sz="1050">
                <a:solidFill>
                  <a:srgbClr val="334155"/>
                </a:solidFill>
              </a:defRPr>
            </a:pPr>
            <a:r>
              <a:t>• Dynamic color-coded expiry countdown timers</a:t>
            </a:r>
          </a:p>
          <a:p>
            <a:pPr>
              <a:spcBef>
                <a:spcPts val="600"/>
              </a:spcBef>
              <a:defRPr sz="1050">
                <a:solidFill>
                  <a:srgbClr val="334155"/>
                </a:solidFill>
              </a:defRPr>
            </a:pPr>
            <a:r>
              <a:t>• REST API proxy via Vite dev server</a:t>
            </a:r>
          </a:p>
        </p:txBody>
      </p:sp>
      <p:sp>
        <p:nvSpPr>
          <p:cNvPr id="6" name="Rounded Rectangle 5"/>
          <p:cNvSpPr/>
          <p:nvPr/>
        </p:nvSpPr>
        <p:spPr>
          <a:xfrm>
            <a:off x="4297680" y="164592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b="1" sz="1300">
                <a:solidFill>
                  <a:srgbClr val="0F172A"/>
                </a:solidFill>
              </a:defRPr>
            </a:pPr>
            <a:r>
              <a:t>Tier 2: Application Server</a:t>
            </a:r>
          </a:p>
          <a:p>
            <a:pPr>
              <a:defRPr b="1" sz="1000">
                <a:solidFill>
                  <a:srgbClr val="059669"/>
                </a:solidFill>
              </a:defRPr>
            </a:pPr>
            <a:r>
              <a:t>Node.js + Express 5 API</a:t>
            </a:r>
          </a:p>
          <a:p>
            <a:pPr>
              <a:spcBef>
                <a:spcPts val="600"/>
              </a:spcBef>
              <a:defRPr sz="1050">
                <a:solidFill>
                  <a:srgbClr val="334155"/>
                </a:solidFill>
              </a:defRPr>
            </a:pPr>
            <a:r>
              <a:t>• Modular REST routing (listings, ngos, donors, auth)</a:t>
            </a:r>
          </a:p>
          <a:p>
            <a:pPr>
              <a:spcBef>
                <a:spcPts val="600"/>
              </a:spcBef>
              <a:defRPr sz="1050">
                <a:solidFill>
                  <a:srgbClr val="334155"/>
                </a:solidFill>
              </a:defRPr>
            </a:pPr>
            <a:r>
              <a:t>• Stateless JWT Authentication with bcrypt hashing</a:t>
            </a:r>
          </a:p>
          <a:p>
            <a:pPr>
              <a:spcBef>
                <a:spcPts val="600"/>
              </a:spcBef>
              <a:defRPr sz="1050">
                <a:solidFill>
                  <a:srgbClr val="334155"/>
                </a:solidFill>
              </a:defRPr>
            </a:pPr>
            <a:r>
              <a:t>• Geospatial proxy to OpenStreetMap Overpass &amp; OSRM</a:t>
            </a:r>
          </a:p>
          <a:p>
            <a:pPr>
              <a:spcBef>
                <a:spcPts val="600"/>
              </a:spcBef>
              <a:defRPr sz="1050">
                <a:solidFill>
                  <a:srgbClr val="334155"/>
                </a:solidFill>
              </a:defRPr>
            </a:pPr>
            <a:r>
              <a:t>• In-memory TTL cache (10 min) to prevent rate limits</a:t>
            </a:r>
          </a:p>
          <a:p>
            <a:pPr>
              <a:spcBef>
                <a:spcPts val="600"/>
              </a:spcBef>
              <a:defRPr sz="1050">
                <a:solidFill>
                  <a:srgbClr val="334155"/>
                </a:solidFill>
              </a:defRPr>
            </a:pPr>
            <a:r>
              <a:t>• AbortController with 5-second HTTP timeout</a:t>
            </a:r>
          </a:p>
          <a:p>
            <a:pPr>
              <a:spcBef>
                <a:spcPts val="600"/>
              </a:spcBef>
              <a:defRPr sz="1050">
                <a:solidFill>
                  <a:srgbClr val="334155"/>
                </a:solidFill>
              </a:defRPr>
            </a:pPr>
            <a:r>
              <a:t>• node-cron 60-second safety sweeper daemon</a:t>
            </a:r>
          </a:p>
        </p:txBody>
      </p:sp>
      <p:sp>
        <p:nvSpPr>
          <p:cNvPr id="7" name="Rounded Rectangle 6"/>
          <p:cNvSpPr/>
          <p:nvPr/>
        </p:nvSpPr>
        <p:spPr>
          <a:xfrm>
            <a:off x="7863840" y="1645920"/>
            <a:ext cx="33832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b="1" sz="1300">
                <a:solidFill>
                  <a:srgbClr val="0F172A"/>
                </a:solidFill>
              </a:defRPr>
            </a:pPr>
            <a:r>
              <a:t>Tier 3: Persistence Layer</a:t>
            </a:r>
          </a:p>
          <a:p>
            <a:pPr>
              <a:defRPr b="1" sz="1000">
                <a:solidFill>
                  <a:srgbClr val="059669"/>
                </a:solidFill>
              </a:defRPr>
            </a:pPr>
            <a:r>
              <a:t>PostgreSQL &amp; Hybrid Fallback</a:t>
            </a:r>
          </a:p>
          <a:p>
            <a:pPr>
              <a:spcBef>
                <a:spcPts val="600"/>
              </a:spcBef>
              <a:defRPr sz="1050">
                <a:solidFill>
                  <a:srgbClr val="334155"/>
                </a:solidFill>
              </a:defRPr>
            </a:pPr>
            <a:r>
              <a:t>• ACID-compliant relational tables with FK constraints</a:t>
            </a:r>
          </a:p>
          <a:p>
            <a:pPr>
              <a:spcBef>
                <a:spcPts val="600"/>
              </a:spcBef>
              <a:defRPr sz="1050">
                <a:solidFill>
                  <a:srgbClr val="334155"/>
                </a:solidFill>
              </a:defRPr>
            </a:pPr>
            <a:r>
              <a:t>• Dual-Mode Architecture: Automatically uses Postgres or Zero-Config In-Memory engine</a:t>
            </a:r>
          </a:p>
          <a:p>
            <a:pPr>
              <a:spcBef>
                <a:spcPts val="600"/>
              </a:spcBef>
              <a:defRPr sz="1050">
                <a:solidFill>
                  <a:srgbClr val="334155"/>
                </a:solidFill>
              </a:defRPr>
            </a:pPr>
            <a:r>
              <a:t>• Auto-migration on server boot (CREATE TABLE IF NOT EXISTS)</a:t>
            </a:r>
          </a:p>
          <a:p>
            <a:pPr>
              <a:spcBef>
                <a:spcPts val="600"/>
              </a:spcBef>
              <a:defRPr sz="1050">
                <a:solidFill>
                  <a:srgbClr val="334155"/>
                </a:solidFill>
              </a:defRPr>
            </a:pPr>
            <a:r>
              <a:t>• Automated seed data generation for verified testing</a:t>
            </a:r>
          </a:p>
          <a:p>
            <a:pPr>
              <a:spcBef>
                <a:spcPts val="600"/>
              </a:spcBef>
              <a:defRPr sz="1050">
                <a:solidFill>
                  <a:srgbClr val="334155"/>
                </a:solidFill>
              </a:defRPr>
            </a:pPr>
            <a:r>
              <a:t>• Atomic SQL updates for conflict-free reservations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065F46"/>
                </a:solidFill>
              </a:defRPr>
            </a:pPr>
            <a:r>
              <a:t>SHAREBITE • MID-TERM REVIEW</a:t>
            </a:r>
          </a:p>
        </p:txBody>
      </p:sp>
      <p:sp>
        <p:nvSpPr>
          <p:cNvPr id="4" name="TextBox 3"/>
          <p:cNvSpPr txBox="1"/>
          <p:nvPr/>
        </p:nvSpPr>
        <p:spPr>
          <a:xfrm>
            <a:off x="731520" y="731520"/>
            <a:ext cx="10515600" cy="548640"/>
          </a:xfrm>
          <a:prstGeom prst="rect">
            <a:avLst/>
          </a:prstGeom>
          <a:noFill/>
        </p:spPr>
        <p:txBody>
          <a:bodyPr wrap="square" lIns="0" tIns="0" rIns="0" bIns="0">
            <a:spAutoFit/>
          </a:bodyPr>
          <a:lstStyle/>
          <a:p>
            <a:pPr>
              <a:defRPr sz="2400" b="1">
                <a:solidFill>
                  <a:srgbClr val="0F172A"/>
                </a:solidFill>
              </a:defRPr>
            </a:pPr>
            <a:r>
              <a:t>Relational Database Design &amp; Entity State Machine</a:t>
            </a:r>
          </a:p>
        </p:txBody>
      </p:sp>
      <p:sp>
        <p:nvSpPr>
          <p:cNvPr id="5" name="Rounded Rectangle 4"/>
          <p:cNvSpPr/>
          <p:nvPr/>
        </p:nvSpPr>
        <p:spPr>
          <a:xfrm>
            <a:off x="731520" y="1645920"/>
            <a:ext cx="53035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b="1" sz="1300">
                <a:solidFill>
                  <a:srgbClr val="0F172A"/>
                </a:solidFill>
              </a:defRPr>
            </a:pPr>
            <a:r>
              <a:t>Relational Entities (PostgreSQL / DDL)</a:t>
            </a:r>
          </a:p>
          <a:p>
            <a:pPr>
              <a:spcBef>
                <a:spcPts val="800"/>
              </a:spcBef>
            </a:pPr>
            <a:r>
              <a:rPr b="1" sz="1050">
                <a:solidFill>
                  <a:srgbClr val="2563EB"/>
                </a:solidFill>
              </a:rPr>
              <a:t>• users table:
</a:t>
            </a:r>
            <a:r>
              <a:rPr sz="950">
                <a:solidFill>
                  <a:srgbClr val="334155"/>
                </a:solidFill>
              </a:rPr>
              <a:t>id (PK), name, email (UQ), password_hash, role ('donor'|'claimer'|'admin'), verified, lat, lng, phone, created_at</a:t>
            </a:r>
          </a:p>
          <a:p>
            <a:pPr>
              <a:spcBef>
                <a:spcPts val="800"/>
              </a:spcBef>
            </a:pPr>
            <a:r>
              <a:rPr b="1" sz="1050">
                <a:solidFill>
                  <a:srgbClr val="2563EB"/>
                </a:solidFill>
              </a:rPr>
              <a:t>• listings table:
</a:t>
            </a:r>
            <a:r>
              <a:rPr sz="950">
                <a:solidFill>
                  <a:srgbClr val="334155"/>
                </a:solidFill>
              </a:rPr>
              <a:t>id (PK), donor_id (FK), food_type, food_category ('veg'|'non-veg'), quantity, quantity_unit, prepared_at, expires_at, status, address, lat, lng, claimed_by, claimed_by_id, otp, claimed_at, picked_up_at, expired_at</a:t>
            </a:r>
          </a:p>
          <a:p>
            <a:pPr>
              <a:spcBef>
                <a:spcPts val="800"/>
              </a:spcBef>
            </a:pPr>
            <a:r>
              <a:rPr b="1" sz="1050">
                <a:solidFill>
                  <a:srgbClr val="2563EB"/>
                </a:solidFill>
              </a:rPr>
              <a:t>• ngos table:
</a:t>
            </a:r>
            <a:r>
              <a:rPr sz="950">
                <a:solidFill>
                  <a:srgbClr val="334155"/>
                </a:solidFill>
              </a:rPr>
              <a:t>id (PK), name, cause, address, lat, lng, contact_phone, contact_email, verified, capacity, operating_hours, website</a:t>
            </a:r>
          </a:p>
          <a:p>
            <a:pPr>
              <a:spcBef>
                <a:spcPts val="800"/>
              </a:spcBef>
            </a:pPr>
            <a:r>
              <a:rPr b="1" sz="1050">
                <a:solidFill>
                  <a:srgbClr val="2563EB"/>
                </a:solidFill>
              </a:rPr>
              <a:t>• donors table:
</a:t>
            </a:r>
            <a:r>
              <a:rPr sz="950">
                <a:solidFill>
                  <a:srgbClr val="334155"/>
                </a:solidFill>
              </a:rPr>
              <a:t>id (PK), user_id (FK), name, type, address, lat, lng, phone, email, verified, total_donations</a:t>
            </a:r>
          </a:p>
        </p:txBody>
      </p:sp>
      <p:sp>
        <p:nvSpPr>
          <p:cNvPr id="6" name="Rounded Rectangle 5"/>
          <p:cNvSpPr/>
          <p:nvPr/>
        </p:nvSpPr>
        <p:spPr>
          <a:xfrm>
            <a:off x="6217920" y="16459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b="1" sz="1300">
                <a:solidFill>
                  <a:srgbClr val="0F172A"/>
                </a:solidFill>
              </a:defRPr>
            </a:pPr>
            <a:r>
              <a:t>Surplus Listing State Machine Transition</a:t>
            </a:r>
          </a:p>
          <a:p>
            <a:pPr>
              <a:spcBef>
                <a:spcPts val="1000"/>
              </a:spcBef>
            </a:pPr>
            <a:r>
              <a:rPr b="1" sz="1100">
                <a:solidFill>
                  <a:srgbClr val="0F172A"/>
                </a:solidFill>
              </a:rPr>
              <a:t>1. [PENDING] Initial State
</a:t>
            </a:r>
            <a:r>
              <a:rPr sz="1000">
                <a:solidFill>
                  <a:srgbClr val="334155"/>
                </a:solidFill>
              </a:rPr>
              <a:t>Listing created by donor. Open to discovery on public map. Timer ticking down.</a:t>
            </a:r>
          </a:p>
          <a:p>
            <a:pPr>
              <a:spcBef>
                <a:spcPts val="1000"/>
              </a:spcBef>
            </a:pPr>
            <a:r>
              <a:rPr b="1" sz="1100">
                <a:solidFill>
                  <a:srgbClr val="D97706"/>
                </a:solidFill>
              </a:rPr>
              <a:t>2. [CLAIMED] Reserved State
</a:t>
            </a:r>
            <a:r>
              <a:rPr sz="1000">
                <a:solidFill>
                  <a:srgbClr val="334155"/>
                </a:solidFill>
              </a:rPr>
              <a:t>NGO clicks 'Claim'. Atomic SQL lock locks record. 6-digit OTP generated. Food hidden from others.</a:t>
            </a:r>
          </a:p>
          <a:p>
            <a:pPr>
              <a:spcBef>
                <a:spcPts val="1000"/>
              </a:spcBef>
            </a:pPr>
            <a:r>
              <a:rPr b="1" sz="1100">
                <a:solidFill>
                  <a:srgbClr val="065F46"/>
                </a:solidFill>
              </a:rPr>
              <a:t>3. [PICKED_UP] Terminal Success
</a:t>
            </a:r>
            <a:r>
              <a:rPr sz="1000">
                <a:solidFill>
                  <a:srgbClr val="334155"/>
                </a:solidFill>
              </a:rPr>
              <a:t>Volunteer arrives. Donor enters matching OTP. System marks picked_up_at and logs social impact metrics.</a:t>
            </a:r>
          </a:p>
          <a:p>
            <a:pPr>
              <a:spcBef>
                <a:spcPts val="1000"/>
              </a:spcBef>
            </a:pPr>
            <a:r>
              <a:rPr b="1" sz="1100">
                <a:solidFill>
                  <a:srgbClr val="DC2626"/>
                </a:solidFill>
              </a:rPr>
              <a:t>4. [EXPIRED] Safety Deprecation
</a:t>
            </a:r>
            <a:r>
              <a:rPr sz="1000">
                <a:solidFill>
                  <a:srgbClr val="334155"/>
                </a:solidFill>
              </a:rPr>
              <a:t>If current time exceeds expires_at while in 'pending' or 'claimed', background cron transitions to 'expired'.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065F46"/>
                </a:solidFill>
              </a:defRPr>
            </a:pPr>
            <a:r>
              <a:t>SHAREBITE • MID-TERM REVIEW</a:t>
            </a:r>
          </a:p>
        </p:txBody>
      </p:sp>
      <p:sp>
        <p:nvSpPr>
          <p:cNvPr id="4" name="TextBox 3"/>
          <p:cNvSpPr txBox="1"/>
          <p:nvPr/>
        </p:nvSpPr>
        <p:spPr>
          <a:xfrm>
            <a:off x="731520" y="731520"/>
            <a:ext cx="10515600" cy="548640"/>
          </a:xfrm>
          <a:prstGeom prst="rect">
            <a:avLst/>
          </a:prstGeom>
          <a:noFill/>
        </p:spPr>
        <p:txBody>
          <a:bodyPr wrap="square" lIns="0" tIns="0" rIns="0" bIns="0">
            <a:spAutoFit/>
          </a:bodyPr>
          <a:lstStyle/>
          <a:p>
            <a:pPr>
              <a:defRPr sz="2400" b="1">
                <a:solidFill>
                  <a:srgbClr val="0F172A"/>
                </a:solidFill>
              </a:defRPr>
            </a:pPr>
            <a:r>
              <a:t>Core Algorithm 1: Haversine Spherical Distance Calculation</a:t>
            </a:r>
          </a:p>
        </p:txBody>
      </p:sp>
      <p:sp>
        <p:nvSpPr>
          <p:cNvPr id="5" name="Rounded Rectangle 4"/>
          <p:cNvSpPr/>
          <p:nvPr/>
        </p:nvSpPr>
        <p:spPr>
          <a:xfrm>
            <a:off x="731520" y="1645920"/>
            <a:ext cx="4846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b="1" sz="1300">
                <a:solidFill>
                  <a:srgbClr val="0F172A"/>
                </a:solidFill>
              </a:defRPr>
            </a:pPr>
            <a:r>
              <a:t>Mathematical Formulation &amp; Rationale</a:t>
            </a:r>
          </a:p>
          <a:p>
            <a:pPr>
              <a:spcBef>
                <a:spcPts val="800"/>
              </a:spcBef>
            </a:pPr>
            <a:r>
              <a:rPr b="1" sz="1050">
                <a:solidFill>
                  <a:srgbClr val="065F46"/>
                </a:solidFill>
              </a:rPr>
              <a:t>Why Not Euclidean Distance?
</a:t>
            </a:r>
            <a:r>
              <a:rPr sz="950">
                <a:solidFill>
                  <a:srgbClr val="334155"/>
                </a:solidFill>
              </a:rPr>
              <a:t>Flat Euclidean distance ($d = \sqrt{\Delta x^2 + \Delta y^2}$) incurs severe spherical distortion over geographical coordinates, leading to inaccurate radius boundaries.</a:t>
            </a:r>
          </a:p>
          <a:p>
            <a:pPr>
              <a:spcBef>
                <a:spcPts val="800"/>
              </a:spcBef>
            </a:pPr>
            <a:r>
              <a:rPr b="1" sz="1050">
                <a:solidFill>
                  <a:srgbClr val="065F46"/>
                </a:solidFill>
              </a:rPr>
              <a:t>The Haversine Law:
</a:t>
            </a:r>
            <a:r>
              <a:rPr sz="950">
                <a:solidFill>
                  <a:srgbClr val="334155"/>
                </a:solidFill>
              </a:rPr>
              <a:t>Calculates the great-circle distance between two coordinate pairs on a sphere of radius $R = 6371\text{ km}$:
a = sin²(Δlat/2) + cos(lat1) · cos(lat2) · sin²(Δlng/2)
c = 2 · atan2(√a, √(1-a))
d = R · c</a:t>
            </a:r>
          </a:p>
          <a:p>
            <a:pPr>
              <a:spcBef>
                <a:spcPts val="800"/>
              </a:spcBef>
            </a:pPr>
            <a:r>
              <a:rPr b="1" sz="1050">
                <a:solidFill>
                  <a:srgbClr val="065F46"/>
                </a:solidFill>
              </a:rPr>
              <a:t>Computational Efficiency:
</a:t>
            </a:r>
            <a:r>
              <a:rPr sz="950">
                <a:solidFill>
                  <a:srgbClr val="334155"/>
                </a:solidFill>
              </a:rPr>
              <a:t>Executes in O(1) time per record. In our database layer, all listings, NGOs, and donors within the requested radius (e.g. 15 km) are filtered and dynamically sorted in memory.</a:t>
            </a:r>
          </a:p>
        </p:txBody>
      </p:sp>
      <p:sp>
        <p:nvSpPr>
          <p:cNvPr id="6" name="Rounded Rectangle 5"/>
          <p:cNvSpPr/>
          <p:nvPr/>
        </p:nvSpPr>
        <p:spPr>
          <a:xfrm>
            <a:off x="5760720" y="1645920"/>
            <a:ext cx="5669280" cy="3657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lIns="182880" tIns="73152"/>
          <a:lstStyle/>
          <a:p>
            <a:pPr algn="ctr">
              <a:defRPr sz="1100" b="1">
                <a:solidFill>
                  <a:srgbClr val="059669"/>
                </a:solidFill>
              </a:defRPr>
            </a:pPr>
            <a:r>
              <a:t>💻 DISTANCE LOGIC (server/src/db.js)</a:t>
            </a:r>
          </a:p>
        </p:txBody>
      </p:sp>
      <p:sp>
        <p:nvSpPr>
          <p:cNvPr id="7" name="Rounded Rectangle 6"/>
          <p:cNvSpPr/>
          <p:nvPr/>
        </p:nvSpPr>
        <p:spPr>
          <a:xfrm>
            <a:off x="5760720" y="2011680"/>
            <a:ext cx="5669280" cy="4297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rIns="182880" bIns="137160"/>
          <a:lstStyle/>
          <a:p>
            <a:pPr algn="ctr">
              <a:defRPr sz="1000">
                <a:solidFill>
                  <a:srgbClr val="E2E8F0"/>
                </a:solidFill>
                <a:latin typeface="Consolas"/>
              </a:defRPr>
            </a:pPr>
            <a:r>
              <a:t>// server/src/db.js</a:t>
            </a:r>
          </a:p>
          <a:p>
            <a:pPr>
              <a:defRPr sz="1000">
                <a:solidFill>
                  <a:srgbClr val="E2E8F0"/>
                </a:solidFill>
                <a:latin typeface="Consolas"/>
              </a:defRPr>
            </a:pPr>
            <a:r>
              <a:t>function distanceKm(lat1, lon1, lat2, lon2) {</a:t>
            </a:r>
          </a:p>
          <a:p>
            <a:pPr>
              <a:defRPr sz="1000">
                <a:solidFill>
                  <a:srgbClr val="E2E8F0"/>
                </a:solidFill>
                <a:latin typeface="Consolas"/>
              </a:defRPr>
            </a:pPr>
            <a:r>
              <a:t>  if (!Number.isFinite(lat1) || !Number.isFinite(lon1) || </a:t>
            </a:r>
          </a:p>
          <a:p>
            <a:pPr>
              <a:defRPr sz="1000">
                <a:solidFill>
                  <a:srgbClr val="E2E8F0"/>
                </a:solidFill>
                <a:latin typeface="Consolas"/>
              </a:defRPr>
            </a:pPr>
            <a:r>
              <a:t>      !Number.isFinite(lat2) || !Number.isFinite(lon2)) {</a:t>
            </a:r>
          </a:p>
          <a:p>
            <a:pPr>
              <a:defRPr sz="1000">
                <a:solidFill>
                  <a:srgbClr val="E2E8F0"/>
                </a:solidFill>
                <a:latin typeface="Consolas"/>
              </a:defRPr>
            </a:pPr>
            <a:r>
              <a:t>    return 0;</a:t>
            </a:r>
          </a:p>
          <a:p>
            <a:pPr>
              <a:defRPr sz="1000">
                <a:solidFill>
                  <a:srgbClr val="E2E8F0"/>
                </a:solidFill>
                <a:latin typeface="Consolas"/>
              </a:defRPr>
            </a:pPr>
            <a:r>
              <a:t>  }</a:t>
            </a:r>
          </a:p>
          <a:p>
            <a:pPr>
              <a:defRPr sz="1000">
                <a:solidFill>
                  <a:srgbClr val="E2E8F0"/>
                </a:solidFill>
                <a:latin typeface="Consolas"/>
              </a:defRPr>
            </a:pPr>
            <a:r>
              <a:t>  const earthRadiusKm = 6371;</a:t>
            </a:r>
          </a:p>
          <a:p>
            <a:pPr>
              <a:defRPr sz="1000">
                <a:solidFill>
                  <a:srgbClr val="E2E8F0"/>
                </a:solidFill>
                <a:latin typeface="Consolas"/>
              </a:defRPr>
            </a:pPr>
            <a:r>
              <a:t>  const latDelta = ((lat2 - lat1) * Math.PI) / 180;</a:t>
            </a:r>
          </a:p>
          <a:p>
            <a:pPr>
              <a:defRPr sz="1000">
                <a:solidFill>
                  <a:srgbClr val="E2E8F0"/>
                </a:solidFill>
                <a:latin typeface="Consolas"/>
              </a:defRPr>
            </a:pPr>
            <a:r>
              <a:t>  const lngDelta = ((lon2 - lon1) * Math.PI) / 180;</a:t>
            </a:r>
          </a:p>
          <a:p>
            <a:pPr>
              <a:defRPr sz="1000">
                <a:solidFill>
                  <a:srgbClr val="E2E8F0"/>
                </a:solidFill>
                <a:latin typeface="Consolas"/>
              </a:defRPr>
            </a:pPr>
          </a:p>
          <a:p>
            <a:pPr>
              <a:defRPr sz="1000">
                <a:solidFill>
                  <a:srgbClr val="E2E8F0"/>
                </a:solidFill>
                <a:latin typeface="Consolas"/>
              </a:defRPr>
            </a:pPr>
            <a:r>
              <a:t>  const a =</a:t>
            </a:r>
          </a:p>
          <a:p>
            <a:pPr>
              <a:defRPr sz="1000">
                <a:solidFill>
                  <a:srgbClr val="E2E8F0"/>
                </a:solidFill>
                <a:latin typeface="Consolas"/>
              </a:defRPr>
            </a:pPr>
            <a:r>
              <a:t>    Math.sin(latDelta / 2) ** 2 +</a:t>
            </a:r>
          </a:p>
          <a:p>
            <a:pPr>
              <a:defRPr sz="1000">
                <a:solidFill>
                  <a:srgbClr val="E2E8F0"/>
                </a:solidFill>
                <a:latin typeface="Consolas"/>
              </a:defRPr>
            </a:pPr>
            <a:r>
              <a:t>    Math.cos((lat1 * Math.PI) / 180) *</a:t>
            </a:r>
          </a:p>
          <a:p>
            <a:pPr>
              <a:defRPr sz="1000">
                <a:solidFill>
                  <a:srgbClr val="E2E8F0"/>
                </a:solidFill>
                <a:latin typeface="Consolas"/>
              </a:defRPr>
            </a:pPr>
            <a:r>
              <a:t>      Math.cos((lat2 * Math.PI) / 180) *</a:t>
            </a:r>
          </a:p>
          <a:p>
            <a:pPr>
              <a:defRPr sz="1000">
                <a:solidFill>
                  <a:srgbClr val="E2E8F0"/>
                </a:solidFill>
                <a:latin typeface="Consolas"/>
              </a:defRPr>
            </a:pPr>
            <a:r>
              <a:t>      Math.sin(lngDelta / 2) ** 2;</a:t>
            </a:r>
          </a:p>
          <a:p>
            <a:pPr>
              <a:defRPr sz="1000">
                <a:solidFill>
                  <a:srgbClr val="E2E8F0"/>
                </a:solidFill>
                <a:latin typeface="Consolas"/>
              </a:defRPr>
            </a:pPr>
          </a:p>
          <a:p>
            <a:pPr>
              <a:defRPr sz="1000">
                <a:solidFill>
                  <a:srgbClr val="E2E8F0"/>
                </a:solidFill>
                <a:latin typeface="Consolas"/>
              </a:defRPr>
            </a:pPr>
            <a:r>
              <a:t>  const c = 2 * Math.atan2(Math.sqrt(a), Math.sqrt(1 - a));</a:t>
            </a:r>
          </a:p>
          <a:p>
            <a:pPr>
              <a:defRPr sz="1000">
                <a:solidFill>
                  <a:srgbClr val="E2E8F0"/>
                </a:solidFill>
                <a:latin typeface="Consolas"/>
              </a:defRPr>
            </a:pPr>
            <a:r>
              <a:t>  return Number((earthRadiusKm * c).toFixed(1));</a:t>
            </a:r>
          </a:p>
          <a:p>
            <a:pPr>
              <a:defRPr sz="1000">
                <a:solidFill>
                  <a:srgbClr val="E2E8F0"/>
                </a:solidFill>
                <a:latin typeface="Consolas"/>
              </a:defRPr>
            </a:pP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065F46"/>
                </a:solidFill>
              </a:defRPr>
            </a:pPr>
            <a:r>
              <a:t>SHAREBITE • MID-TERM REVIEW</a:t>
            </a:r>
          </a:p>
        </p:txBody>
      </p:sp>
      <p:sp>
        <p:nvSpPr>
          <p:cNvPr id="4" name="TextBox 3"/>
          <p:cNvSpPr txBox="1"/>
          <p:nvPr/>
        </p:nvSpPr>
        <p:spPr>
          <a:xfrm>
            <a:off x="731520" y="731520"/>
            <a:ext cx="10515600" cy="548640"/>
          </a:xfrm>
          <a:prstGeom prst="rect">
            <a:avLst/>
          </a:prstGeom>
          <a:noFill/>
        </p:spPr>
        <p:txBody>
          <a:bodyPr wrap="square" lIns="0" tIns="0" rIns="0" bIns="0">
            <a:spAutoFit/>
          </a:bodyPr>
          <a:lstStyle/>
          <a:p>
            <a:pPr>
              <a:defRPr sz="2400" b="1">
                <a:solidFill>
                  <a:srgbClr val="0F172A"/>
                </a:solidFill>
              </a:defRPr>
            </a:pPr>
            <a:r>
              <a:t>Core Logic 2: Real-Time OpenStreetMap Overpass Integration</a:t>
            </a:r>
          </a:p>
        </p:txBody>
      </p:sp>
      <p:sp>
        <p:nvSpPr>
          <p:cNvPr id="5" name="Rounded Rectangle 4"/>
          <p:cNvSpPr/>
          <p:nvPr/>
        </p:nvSpPr>
        <p:spPr>
          <a:xfrm>
            <a:off x="731520" y="1645920"/>
            <a:ext cx="4846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b="1" sz="1300">
                <a:solidFill>
                  <a:srgbClr val="0F172A"/>
                </a:solidFill>
              </a:defRPr>
            </a:pPr>
            <a:r>
              <a:t>Why Overpass API &amp; Fault-Tolerant Design</a:t>
            </a:r>
          </a:p>
          <a:p>
            <a:pPr>
              <a:spcBef>
                <a:spcPts val="600"/>
              </a:spcBef>
            </a:pPr>
            <a:r>
              <a:rPr b="1" sz="1000">
                <a:solidFill>
                  <a:srgbClr val="2563EB"/>
                </a:solidFill>
              </a:rPr>
              <a:t>• Zero-Cost Global Scale:
</a:t>
            </a:r>
            <a:r>
              <a:rPr sz="950">
                <a:solidFill>
                  <a:srgbClr val="334155"/>
                </a:solidFill>
              </a:rPr>
              <a:t>Rather than relying on static NGO rosters or expensive Google Maps billing, ShareBite queries OpenStreetMap's global crowd-sourced database for live relief centers.</a:t>
            </a:r>
          </a:p>
          <a:p>
            <a:pPr>
              <a:spcBef>
                <a:spcPts val="600"/>
              </a:spcBef>
            </a:pPr>
            <a:r>
              <a:rPr b="1" sz="1000">
                <a:solidFill>
                  <a:srgbClr val="2563EB"/>
                </a:solidFill>
              </a:rPr>
              <a:t>• Overpass QL Tagging:
</a:t>
            </a:r>
            <a:r>
              <a:rPr sz="950">
                <a:solidFill>
                  <a:srgbClr val="334155"/>
                </a:solidFill>
              </a:rPr>
              <a:t>Queries bounding circles for tags: 'amenity=social_facility', 'office=ngo', 'office=charity', 'social_facility=soup_kitchen', and 'amenity=food_sharing'.</a:t>
            </a:r>
          </a:p>
          <a:p>
            <a:pPr>
              <a:spcBef>
                <a:spcPts val="600"/>
              </a:spcBef>
            </a:pPr>
            <a:r>
              <a:rPr b="1" sz="1000">
                <a:solidFill>
                  <a:srgbClr val="2563EB"/>
                </a:solidFill>
              </a:rPr>
              <a:t>• Resilience with AbortController:
</a:t>
            </a:r>
            <a:r>
              <a:rPr sz="950">
                <a:solidFill>
                  <a:srgbClr val="334155"/>
                </a:solidFill>
              </a:rPr>
              <a:t>Public APIs can experience network lag. We wrap every query in an AbortController with a strict 5000ms timeout.</a:t>
            </a:r>
          </a:p>
          <a:p>
            <a:pPr>
              <a:spcBef>
                <a:spcPts val="600"/>
              </a:spcBef>
            </a:pPr>
            <a:r>
              <a:rPr b="1" sz="1000">
                <a:solidFill>
                  <a:srgbClr val="2563EB"/>
                </a:solidFill>
              </a:rPr>
              <a:t>• In-Memory TTL Caching:
</a:t>
            </a:r>
            <a:r>
              <a:rPr sz="950">
                <a:solidFill>
                  <a:srgbClr val="334155"/>
                </a:solidFill>
              </a:rPr>
              <a:t>10-minute in-memory cache keyed by lat/lng/radius prevents API rate limiting and hammers.</a:t>
            </a:r>
          </a:p>
          <a:p>
            <a:pPr>
              <a:spcBef>
                <a:spcPts val="600"/>
              </a:spcBef>
            </a:pPr>
            <a:r>
              <a:rPr b="1" sz="1000">
                <a:solidFill>
                  <a:srgbClr val="2563EB"/>
                </a:solidFill>
              </a:rPr>
              <a:t>• Deduplication Engine:
</a:t>
            </a:r>
            <a:r>
              <a:rPr sz="950">
                <a:solidFill>
                  <a:srgbClr val="334155"/>
                </a:solidFill>
              </a:rPr>
              <a:t>Merges live OSM facilities with verified DB partners, discarding duplicate records within 200m.</a:t>
            </a:r>
          </a:p>
        </p:txBody>
      </p:sp>
      <p:sp>
        <p:nvSpPr>
          <p:cNvPr id="6" name="Rounded Rectangle 5"/>
          <p:cNvSpPr/>
          <p:nvPr/>
        </p:nvSpPr>
        <p:spPr>
          <a:xfrm>
            <a:off x="5760720" y="1645920"/>
            <a:ext cx="5669280" cy="3657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lIns="182880" tIns="73152"/>
          <a:lstStyle/>
          <a:p>
            <a:pPr algn="ctr">
              <a:defRPr sz="1100" b="1">
                <a:solidFill>
                  <a:srgbClr val="059669"/>
                </a:solidFill>
              </a:defRPr>
            </a:pPr>
            <a:r>
              <a:t>💻 OVERPASS QL PROXY (osmService.js)</a:t>
            </a:r>
          </a:p>
        </p:txBody>
      </p:sp>
      <p:sp>
        <p:nvSpPr>
          <p:cNvPr id="7" name="Rounded Rectangle 6"/>
          <p:cNvSpPr/>
          <p:nvPr/>
        </p:nvSpPr>
        <p:spPr>
          <a:xfrm>
            <a:off x="5760720" y="2011680"/>
            <a:ext cx="5669280" cy="4297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rIns="182880" bIns="137160"/>
          <a:lstStyle/>
          <a:p>
            <a:pPr algn="ctr">
              <a:defRPr sz="1000">
                <a:solidFill>
                  <a:srgbClr val="E2E8F0"/>
                </a:solidFill>
                <a:latin typeface="Consolas"/>
              </a:defRPr>
            </a:pPr>
            <a:r>
              <a:t>// server/src/services/osmService.js</a:t>
            </a:r>
          </a:p>
          <a:p>
            <a:pPr>
              <a:defRPr sz="1000">
                <a:solidFill>
                  <a:srgbClr val="E2E8F0"/>
                </a:solidFill>
                <a:latin typeface="Consolas"/>
              </a:defRPr>
            </a:pPr>
            <a:r>
              <a:t>const query = `</a:t>
            </a:r>
          </a:p>
          <a:p>
            <a:pPr>
              <a:defRPr sz="1000">
                <a:solidFill>
                  <a:srgbClr val="E2E8F0"/>
                </a:solidFill>
                <a:latin typeface="Consolas"/>
              </a:defRPr>
            </a:pPr>
            <a:r>
              <a:t>  [out:json][timeout:6];</a:t>
            </a:r>
          </a:p>
          <a:p>
            <a:pPr>
              <a:defRPr sz="1000">
                <a:solidFill>
                  <a:srgbClr val="E2E8F0"/>
                </a:solidFill>
                <a:latin typeface="Consolas"/>
              </a:defRPr>
            </a:pPr>
            <a:r>
              <a:t>  (</a:t>
            </a:r>
          </a:p>
          <a:p>
            <a:pPr>
              <a:defRPr sz="1000">
                <a:solidFill>
                  <a:srgbClr val="E2E8F0"/>
                </a:solidFill>
                <a:latin typeface="Consolas"/>
              </a:defRPr>
            </a:pPr>
            <a:r>
              <a:t>    node["amenity"="social_facility"](around:${radiusMeters},${lat},${lng});</a:t>
            </a:r>
          </a:p>
          <a:p>
            <a:pPr>
              <a:defRPr sz="1000">
                <a:solidFill>
                  <a:srgbClr val="E2E8F0"/>
                </a:solidFill>
                <a:latin typeface="Consolas"/>
              </a:defRPr>
            </a:pPr>
            <a:r>
              <a:t>    node["office"="ngo"](around:${radiusMeters},${lat},${lng});</a:t>
            </a:r>
          </a:p>
          <a:p>
            <a:pPr>
              <a:defRPr sz="1000">
                <a:solidFill>
                  <a:srgbClr val="E2E8F0"/>
                </a:solidFill>
                <a:latin typeface="Consolas"/>
              </a:defRPr>
            </a:pPr>
            <a:r>
              <a:t>    node["social_facility"="soup_kitchen"](around:${radiusMeters},${lat},${lng});</a:t>
            </a:r>
          </a:p>
          <a:p>
            <a:pPr>
              <a:defRPr sz="1000">
                <a:solidFill>
                  <a:srgbClr val="E2E8F0"/>
                </a:solidFill>
                <a:latin typeface="Consolas"/>
              </a:defRPr>
            </a:pPr>
            <a:r>
              <a:t>    node["amenity"="food_sharing"](around:${radiusMeters},${lat},${lng});</a:t>
            </a:r>
          </a:p>
          <a:p>
            <a:pPr>
              <a:defRPr sz="1000">
                <a:solidFill>
                  <a:srgbClr val="E2E8F0"/>
                </a:solidFill>
                <a:latin typeface="Consolas"/>
              </a:defRPr>
            </a:pPr>
            <a:r>
              <a:t>  );</a:t>
            </a:r>
          </a:p>
          <a:p>
            <a:pPr>
              <a:defRPr sz="1000">
                <a:solidFill>
                  <a:srgbClr val="E2E8F0"/>
                </a:solidFill>
                <a:latin typeface="Consolas"/>
              </a:defRPr>
            </a:pPr>
            <a:r>
              <a:t>  out center 25;</a:t>
            </a:r>
          </a:p>
          <a:p>
            <a:pPr>
              <a:defRPr sz="1000">
                <a:solidFill>
                  <a:srgbClr val="E2E8F0"/>
                </a:solidFill>
                <a:latin typeface="Consolas"/>
              </a:defRPr>
            </a:pPr>
            <a:r>
              <a:t>`;</a:t>
            </a:r>
          </a:p>
          <a:p>
            <a:pPr>
              <a:defRPr sz="1000">
                <a:solidFill>
                  <a:srgbClr val="E2E8F0"/>
                </a:solidFill>
                <a:latin typeface="Consolas"/>
              </a:defRPr>
            </a:pPr>
          </a:p>
          <a:p>
            <a:pPr>
              <a:defRPr sz="1000">
                <a:solidFill>
                  <a:srgbClr val="E2E8F0"/>
                </a:solidFill>
                <a:latin typeface="Consolas"/>
              </a:defRPr>
            </a:pPr>
            <a:r>
              <a:t>const controller = new AbortController();</a:t>
            </a:r>
          </a:p>
          <a:p>
            <a:pPr>
              <a:defRPr sz="1000">
                <a:solidFill>
                  <a:srgbClr val="E2E8F0"/>
                </a:solidFill>
                <a:latin typeface="Consolas"/>
              </a:defRPr>
            </a:pPr>
            <a:r>
              <a:t>const timeoutId = setTimeout(() =&gt; controller.abort(), 5000);</a:t>
            </a:r>
          </a:p>
          <a:p>
            <a:pPr>
              <a:defRPr sz="1000">
                <a:solidFill>
                  <a:srgbClr val="E2E8F0"/>
                </a:solidFill>
                <a:latin typeface="Consolas"/>
              </a:defRPr>
            </a:pPr>
          </a:p>
          <a:p>
            <a:pPr>
              <a:defRPr sz="1000">
                <a:solidFill>
                  <a:srgbClr val="E2E8F0"/>
                </a:solidFill>
                <a:latin typeface="Consolas"/>
              </a:defRPr>
            </a:pPr>
            <a:r>
              <a:t>const response = await fetch('https://overpass-api.de/api/interpreter', {</a:t>
            </a:r>
          </a:p>
          <a:p>
            <a:pPr>
              <a:defRPr sz="1000">
                <a:solidFill>
                  <a:srgbClr val="E2E8F0"/>
                </a:solidFill>
                <a:latin typeface="Consolas"/>
              </a:defRPr>
            </a:pPr>
            <a:r>
              <a:t>  method: 'POST',</a:t>
            </a:r>
          </a:p>
          <a:p>
            <a:pPr>
              <a:defRPr sz="1000">
                <a:solidFill>
                  <a:srgbClr val="E2E8F0"/>
                </a:solidFill>
                <a:latin typeface="Consolas"/>
              </a:defRPr>
            </a:pPr>
            <a:r>
              <a:t>  headers: { 'Content-Type': 'application/x-www-form-urlencoded' },</a:t>
            </a:r>
          </a:p>
          <a:p>
            <a:pPr>
              <a:defRPr sz="1000">
                <a:solidFill>
                  <a:srgbClr val="E2E8F0"/>
                </a:solidFill>
                <a:latin typeface="Consolas"/>
              </a:defRPr>
            </a:pPr>
            <a:r>
              <a:t>  body: `data=${encodeURIComponent(query)}`,</a:t>
            </a:r>
          </a:p>
          <a:p>
            <a:pPr>
              <a:defRPr sz="1000">
                <a:solidFill>
                  <a:srgbClr val="E2E8F0"/>
                </a:solidFill>
                <a:latin typeface="Consolas"/>
              </a:defRPr>
            </a:pPr>
            <a:r>
              <a:t>  signal: controller.signal,</a:t>
            </a:r>
          </a:p>
          <a:p>
            <a:pPr>
              <a:defRPr sz="1000">
                <a:solidFill>
                  <a:srgbClr val="E2E8F0"/>
                </a:solidFill>
                <a:latin typeface="Consolas"/>
              </a:defRPr>
            </a:pPr>
            <a:r>
              <a:t>});</a:t>
            </a:r>
          </a:p>
          <a:p>
            <a:pPr>
              <a:defRPr sz="1000">
                <a:solidFill>
                  <a:srgbClr val="E2E8F0"/>
                </a:solidFill>
                <a:latin typeface="Consolas"/>
              </a:defRPr>
            </a:pPr>
            <a:r>
              <a:t>clearTimeout(timeoutId);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065F46"/>
                </a:solidFill>
              </a:defRPr>
            </a:pPr>
            <a:r>
              <a:t>SHAREBITE • MID-TERM REVIEW</a:t>
            </a:r>
          </a:p>
        </p:txBody>
      </p:sp>
      <p:sp>
        <p:nvSpPr>
          <p:cNvPr id="4" name="TextBox 3"/>
          <p:cNvSpPr txBox="1"/>
          <p:nvPr/>
        </p:nvSpPr>
        <p:spPr>
          <a:xfrm>
            <a:off x="731520" y="731520"/>
            <a:ext cx="10515600" cy="548640"/>
          </a:xfrm>
          <a:prstGeom prst="rect">
            <a:avLst/>
          </a:prstGeom>
          <a:noFill/>
        </p:spPr>
        <p:txBody>
          <a:bodyPr wrap="square" lIns="0" tIns="0" rIns="0" bIns="0">
            <a:spAutoFit/>
          </a:bodyPr>
          <a:lstStyle/>
          <a:p>
            <a:pPr>
              <a:defRPr sz="2400" b="1">
                <a:solidFill>
                  <a:srgbClr val="0F172A"/>
                </a:solidFill>
              </a:defRPr>
            </a:pPr>
            <a:r>
              <a:t>Core Logic 3: Automated Food Safety Expiration Sweeper</a:t>
            </a:r>
          </a:p>
        </p:txBody>
      </p:sp>
      <p:sp>
        <p:nvSpPr>
          <p:cNvPr id="5" name="Rounded Rectangle 4"/>
          <p:cNvSpPr/>
          <p:nvPr/>
        </p:nvSpPr>
        <p:spPr>
          <a:xfrm>
            <a:off x="731520" y="1645920"/>
            <a:ext cx="4846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b="1" sz="1300">
                <a:solidFill>
                  <a:srgbClr val="0F172A"/>
                </a:solidFill>
              </a:defRPr>
            </a:pPr>
            <a:r>
              <a:t>Food Health &amp; Safety Architecture</a:t>
            </a:r>
          </a:p>
          <a:p>
            <a:pPr>
              <a:spcBef>
                <a:spcPts val="600"/>
              </a:spcBef>
            </a:pPr>
            <a:r>
              <a:rPr b="1" sz="1000">
                <a:solidFill>
                  <a:srgbClr val="DC2626"/>
                </a:solidFill>
              </a:rPr>
              <a:t>The Public Health Threat:
</a:t>
            </a:r>
            <a:r>
              <a:rPr sz="950">
                <a:solidFill>
                  <a:srgbClr val="334155"/>
                </a:solidFill>
              </a:rPr>
              <a:t>Perishable cooked food kept at room temperature for over 4 hours breeds pathogenic bacteria (Bacillus cereus, Salmonella). Human operators forget to take down stale listings.</a:t>
            </a:r>
          </a:p>
          <a:p>
            <a:pPr>
              <a:spcBef>
                <a:spcPts val="600"/>
              </a:spcBef>
            </a:pPr>
            <a:r>
              <a:rPr b="1" sz="1000">
                <a:solidFill>
                  <a:srgbClr val="DC2626"/>
                </a:solidFill>
              </a:rPr>
              <a:t>Automated Server Sweeper:
</a:t>
            </a:r>
            <a:r>
              <a:rPr sz="950">
                <a:solidFill>
                  <a:srgbClr val="334155"/>
                </a:solidFill>
              </a:rPr>
              <a:t>A scheduled background daemon (`node-cron`) executes every 60 seconds with cron syntax `* * * * *`.</a:t>
            </a:r>
          </a:p>
          <a:p>
            <a:pPr>
              <a:spcBef>
                <a:spcPts val="600"/>
              </a:spcBef>
            </a:pPr>
            <a:r>
              <a:rPr b="1" sz="1000">
                <a:solidFill>
                  <a:srgbClr val="DC2626"/>
                </a:solidFill>
              </a:rPr>
              <a:t>Atomic Expiration Query:
</a:t>
            </a:r>
            <a:r>
              <a:rPr sz="950">
                <a:solidFill>
                  <a:srgbClr val="334155"/>
                </a:solidFill>
              </a:rPr>
              <a:t>Executes an instant database sweep: any listing with status `pending` or `claimed` whose `expires_at &lt;= NOW()` is marked `expired`.</a:t>
            </a:r>
          </a:p>
          <a:p>
            <a:pPr>
              <a:spcBef>
                <a:spcPts val="600"/>
              </a:spcBef>
            </a:pPr>
            <a:r>
              <a:rPr b="1" sz="1000">
                <a:solidFill>
                  <a:srgbClr val="DC2626"/>
                </a:solidFill>
              </a:rPr>
              <a:t>Frontend Freshness Countdown:
</a:t>
            </a:r>
            <a:r>
              <a:rPr sz="950">
                <a:solidFill>
                  <a:srgbClr val="334155"/>
                </a:solidFill>
              </a:rPr>
              <a:t>React calculates `msRemaining = expiresAt - Date.now()`. Status badges transition:
• &gt; 2.5 hrs: Green (Safe)
• 1.0 - 2.5 hrs: Amber (Urgent)
• &lt; 1.0 hr: Pulsing Red (Critical)</a:t>
            </a:r>
          </a:p>
        </p:txBody>
      </p:sp>
      <p:sp>
        <p:nvSpPr>
          <p:cNvPr id="6" name="Rounded Rectangle 5"/>
          <p:cNvSpPr/>
          <p:nvPr/>
        </p:nvSpPr>
        <p:spPr>
          <a:xfrm>
            <a:off x="5760720" y="1645920"/>
            <a:ext cx="5669280" cy="3657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lIns="182880" tIns="73152"/>
          <a:lstStyle/>
          <a:p>
            <a:pPr algn="ctr">
              <a:defRPr sz="1100" b="1">
                <a:solidFill>
                  <a:srgbClr val="059669"/>
                </a:solidFill>
              </a:defRPr>
            </a:pPr>
            <a:r>
              <a:t>💻 SAFETY SWEEPER DAEMON (server/src/index.js)</a:t>
            </a:r>
          </a:p>
        </p:txBody>
      </p:sp>
      <p:sp>
        <p:nvSpPr>
          <p:cNvPr id="7" name="Rounded Rectangle 6"/>
          <p:cNvSpPr/>
          <p:nvPr/>
        </p:nvSpPr>
        <p:spPr>
          <a:xfrm>
            <a:off x="5760720" y="2011680"/>
            <a:ext cx="5669280" cy="4297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rIns="182880" bIns="137160"/>
          <a:lstStyle/>
          <a:p>
            <a:pPr algn="ctr">
              <a:defRPr sz="1000">
                <a:solidFill>
                  <a:srgbClr val="E2E8F0"/>
                </a:solidFill>
                <a:latin typeface="Consolas"/>
              </a:defRPr>
            </a:pPr>
            <a:r>
              <a:t>// server/src/index.js &amp; db.js</a:t>
            </a:r>
          </a:p>
          <a:p>
            <a:pPr>
              <a:defRPr sz="1000">
                <a:solidFill>
                  <a:srgbClr val="E2E8F0"/>
                </a:solidFill>
                <a:latin typeface="Consolas"/>
              </a:defRPr>
            </a:pPr>
            <a:r>
              <a:t>const cron = require('node-cron');</a:t>
            </a:r>
          </a:p>
          <a:p>
            <a:pPr>
              <a:defRPr sz="1000">
                <a:solidFill>
                  <a:srgbClr val="E2E8F0"/>
                </a:solidFill>
                <a:latin typeface="Consolas"/>
              </a:defRPr>
            </a:pPr>
          </a:p>
          <a:p>
            <a:pPr>
              <a:defRPr sz="1000">
                <a:solidFill>
                  <a:srgbClr val="E2E8F0"/>
                </a:solidFill>
                <a:latin typeface="Consolas"/>
              </a:defRPr>
            </a:pPr>
            <a:r>
              <a:t>// Runs automatically every 60 seconds in background</a:t>
            </a:r>
          </a:p>
          <a:p>
            <a:pPr>
              <a:defRPr sz="1000">
                <a:solidFill>
                  <a:srgbClr val="E2E8F0"/>
                </a:solidFill>
                <a:latin typeface="Consolas"/>
              </a:defRPr>
            </a:pPr>
            <a:r>
              <a:t>cron.schedule('* * * * *', () =&gt; {</a:t>
            </a:r>
          </a:p>
          <a:p>
            <a:pPr>
              <a:defRPr sz="1000">
                <a:solidFill>
                  <a:srgbClr val="E2E8F0"/>
                </a:solidFill>
                <a:latin typeface="Consolas"/>
              </a:defRPr>
            </a:pPr>
            <a:r>
              <a:t>  db.expireUnsafeListings().catch((err) =&gt; {</a:t>
            </a:r>
          </a:p>
          <a:p>
            <a:pPr>
              <a:defRPr sz="1000">
                <a:solidFill>
                  <a:srgbClr val="E2E8F0"/>
                </a:solidFill>
                <a:latin typeface="Consolas"/>
              </a:defRPr>
            </a:pPr>
            <a:r>
              <a:t>    console.warn('[Cron] Expiry job error:', err.message);</a:t>
            </a:r>
          </a:p>
          <a:p>
            <a:pPr>
              <a:defRPr sz="1000">
                <a:solidFill>
                  <a:srgbClr val="E2E8F0"/>
                </a:solidFill>
                <a:latin typeface="Consolas"/>
              </a:defRPr>
            </a:pPr>
            <a:r>
              <a:t>  });</a:t>
            </a:r>
          </a:p>
          <a:p>
            <a:pPr>
              <a:defRPr sz="1000">
                <a:solidFill>
                  <a:srgbClr val="E2E8F0"/>
                </a:solidFill>
                <a:latin typeface="Consolas"/>
              </a:defRPr>
            </a:pPr>
            <a:r>
              <a:t>});</a:t>
            </a:r>
          </a:p>
          <a:p>
            <a:pPr>
              <a:defRPr sz="1000">
                <a:solidFill>
                  <a:srgbClr val="E2E8F0"/>
                </a:solidFill>
                <a:latin typeface="Consolas"/>
              </a:defRPr>
            </a:pPr>
          </a:p>
          <a:p>
            <a:pPr>
              <a:defRPr sz="1000">
                <a:solidFill>
                  <a:srgbClr val="E2E8F0"/>
                </a:solidFill>
                <a:latin typeface="Consolas"/>
              </a:defRPr>
            </a:pPr>
            <a:r>
              <a:t>// Atomic Database SQL Expiry Execution</a:t>
            </a:r>
          </a:p>
          <a:p>
            <a:pPr>
              <a:defRPr sz="1000">
                <a:solidFill>
                  <a:srgbClr val="E2E8F0"/>
                </a:solidFill>
                <a:latin typeface="Consolas"/>
              </a:defRPr>
            </a:pPr>
            <a:r>
              <a:t>async function expireUnsafeListings(referenceDate = new Date()) {</a:t>
            </a:r>
          </a:p>
          <a:p>
            <a:pPr>
              <a:defRPr sz="1000">
                <a:solidFill>
                  <a:srgbClr val="E2E8F0"/>
                </a:solidFill>
                <a:latin typeface="Consolas"/>
              </a:defRPr>
            </a:pPr>
            <a:r>
              <a:t>  const refIso = referenceDate.toISOString();</a:t>
            </a:r>
          </a:p>
          <a:p>
            <a:pPr>
              <a:defRPr sz="1000">
                <a:solidFill>
                  <a:srgbClr val="E2E8F0"/>
                </a:solidFill>
                <a:latin typeface="Consolas"/>
              </a:defRPr>
            </a:pPr>
            <a:r>
              <a:t>  if (usePostgres) {</a:t>
            </a:r>
          </a:p>
          <a:p>
            <a:pPr>
              <a:defRPr sz="1000">
                <a:solidFill>
                  <a:srgbClr val="E2E8F0"/>
                </a:solidFill>
                <a:latin typeface="Consolas"/>
              </a:defRPr>
            </a:pPr>
            <a:r>
              <a:t>    await pool.query(</a:t>
            </a:r>
          </a:p>
          <a:p>
            <a:pPr>
              <a:defRPr sz="1000">
                <a:solidFill>
                  <a:srgbClr val="E2E8F0"/>
                </a:solidFill>
                <a:latin typeface="Consolas"/>
              </a:defRPr>
            </a:pPr>
            <a:r>
              <a:t>      `UPDATE listings</a:t>
            </a:r>
          </a:p>
          <a:p>
            <a:pPr>
              <a:defRPr sz="1000">
                <a:solidFill>
                  <a:srgbClr val="E2E8F0"/>
                </a:solidFill>
                <a:latin typeface="Consolas"/>
              </a:defRPr>
            </a:pPr>
            <a:r>
              <a:t>       SET status = 'expired', expired_at = $1</a:t>
            </a:r>
          </a:p>
          <a:p>
            <a:pPr>
              <a:defRPr sz="1000">
                <a:solidFill>
                  <a:srgbClr val="E2E8F0"/>
                </a:solidFill>
                <a:latin typeface="Consolas"/>
              </a:defRPr>
            </a:pPr>
            <a:r>
              <a:t>       WHERE status IN ('pending', 'claimed') </a:t>
            </a:r>
          </a:p>
          <a:p>
            <a:pPr>
              <a:defRPr sz="1000">
                <a:solidFill>
                  <a:srgbClr val="E2E8F0"/>
                </a:solidFill>
                <a:latin typeface="Consolas"/>
              </a:defRPr>
            </a:pPr>
            <a:r>
              <a:t>         AND expires_at &lt;= $2;`,</a:t>
            </a:r>
          </a:p>
          <a:p>
            <a:pPr>
              <a:defRPr sz="1000">
                <a:solidFill>
                  <a:srgbClr val="E2E8F0"/>
                </a:solidFill>
                <a:latin typeface="Consolas"/>
              </a:defRPr>
            </a:pPr>
            <a:r>
              <a:t>      [refIso, refIso]</a:t>
            </a:r>
          </a:p>
          <a:p>
            <a:pPr>
              <a:defRPr sz="1000">
                <a:solidFill>
                  <a:srgbClr val="E2E8F0"/>
                </a:solidFill>
                <a:latin typeface="Consolas"/>
              </a:defRPr>
            </a:pPr>
            <a:r>
              <a:t>    );</a:t>
            </a:r>
          </a:p>
          <a:p>
            <a:pPr>
              <a:defRPr sz="1000">
                <a:solidFill>
                  <a:srgbClr val="E2E8F0"/>
                </a:solidFill>
                <a:latin typeface="Consolas"/>
              </a:defRPr>
            </a:pPr>
            <a:r>
              <a:t>  }</a:t>
            </a:r>
          </a:p>
          <a:p>
            <a:pPr>
              <a:defRPr sz="1000">
                <a:solidFill>
                  <a:srgbClr val="E2E8F0"/>
                </a:solidFill>
                <a:latin typeface="Consolas"/>
              </a:defRPr>
            </a:pP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065F46"/>
                </a:solidFill>
              </a:defRPr>
            </a:pPr>
            <a:r>
              <a:t>SHAREBITE • MID-TERM REVIEW</a:t>
            </a:r>
          </a:p>
        </p:txBody>
      </p:sp>
      <p:sp>
        <p:nvSpPr>
          <p:cNvPr id="4" name="TextBox 3"/>
          <p:cNvSpPr txBox="1"/>
          <p:nvPr/>
        </p:nvSpPr>
        <p:spPr>
          <a:xfrm>
            <a:off x="731520" y="731520"/>
            <a:ext cx="10515600" cy="548640"/>
          </a:xfrm>
          <a:prstGeom prst="rect">
            <a:avLst/>
          </a:prstGeom>
          <a:noFill/>
        </p:spPr>
        <p:txBody>
          <a:bodyPr wrap="square" lIns="0" tIns="0" rIns="0" bIns="0">
            <a:spAutoFit/>
          </a:bodyPr>
          <a:lstStyle/>
          <a:p>
            <a:pPr>
              <a:defRPr sz="2400" b="1">
                <a:solidFill>
                  <a:srgbClr val="0F172A"/>
                </a:solidFill>
              </a:defRPr>
            </a:pPr>
            <a:r>
              <a:t>Core Logic 4: Two-Party Cryptographic Handover &amp; Concurrency</a:t>
            </a:r>
          </a:p>
        </p:txBody>
      </p:sp>
      <p:sp>
        <p:nvSpPr>
          <p:cNvPr id="5" name="Rounded Rectangle 4"/>
          <p:cNvSpPr/>
          <p:nvPr/>
        </p:nvSpPr>
        <p:spPr>
          <a:xfrm>
            <a:off x="731520" y="1645920"/>
            <a:ext cx="4846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b="1" sz="1300">
                <a:solidFill>
                  <a:srgbClr val="0F172A"/>
                </a:solidFill>
              </a:defRPr>
            </a:pPr>
            <a:r>
              <a:t>Fraud Prevention &amp; Race-Condition Locking</a:t>
            </a:r>
          </a:p>
          <a:p>
            <a:pPr>
              <a:spcBef>
                <a:spcPts val="600"/>
              </a:spcBef>
            </a:pPr>
            <a:r>
              <a:rPr b="1" sz="1000">
                <a:solidFill>
                  <a:srgbClr val="065F46"/>
                </a:solidFill>
              </a:rPr>
              <a:t>The Double-Claim Race Condition:
</a:t>
            </a:r>
            <a:r>
              <a:rPr sz="950">
                <a:solidFill>
                  <a:srgbClr val="334155"/>
                </a:solidFill>
              </a:rPr>
              <a:t>If two NGO volunteers click 'Claim' at the exact same millisecond, an un-synchronized system would double-book the food batch.</a:t>
            </a:r>
          </a:p>
          <a:p>
            <a:pPr>
              <a:spcBef>
                <a:spcPts val="600"/>
              </a:spcBef>
            </a:pPr>
            <a:r>
              <a:rPr b="1" sz="1000">
                <a:solidFill>
                  <a:srgbClr val="065F46"/>
                </a:solidFill>
              </a:rPr>
              <a:t>Atomic Status Check &amp; Lock:
</a:t>
            </a:r>
            <a:r>
              <a:rPr sz="950">
                <a:solidFill>
                  <a:srgbClr val="334155"/>
                </a:solidFill>
              </a:rPr>
              <a:t>Our SQL update evaluates `WHERE id = $1 AND status = 'pending'`. The database transaction row-locks the record. The second concurrent query fails with HTTP 409 Conflict.</a:t>
            </a:r>
          </a:p>
          <a:p>
            <a:pPr>
              <a:spcBef>
                <a:spcPts val="600"/>
              </a:spcBef>
            </a:pPr>
            <a:r>
              <a:rPr b="1" sz="1000">
                <a:solidFill>
                  <a:srgbClr val="065F46"/>
                </a:solidFill>
              </a:rPr>
              <a:t>Cryptographic OTP Generation:
</a:t>
            </a:r>
            <a:r>
              <a:rPr sz="950">
                <a:solidFill>
                  <a:srgbClr val="334155"/>
                </a:solidFill>
              </a:rPr>
              <a:t>Uses `node:crypto.randomInt(100000, 999999)` to generate a non-deterministic 6-digit PIN visible ONLY to the verified claimer.</a:t>
            </a:r>
          </a:p>
          <a:p>
            <a:pPr>
              <a:spcBef>
                <a:spcPts val="600"/>
              </a:spcBef>
            </a:pPr>
            <a:r>
              <a:rPr b="1" sz="1000">
                <a:solidFill>
                  <a:srgbClr val="065F46"/>
                </a:solidFill>
              </a:rPr>
              <a:t>Physical Pickup Handover:
</a:t>
            </a:r>
            <a:r>
              <a:rPr sz="950">
                <a:solidFill>
                  <a:srgbClr val="334155"/>
                </a:solidFill>
              </a:rPr>
              <a:t>Upon arriving at the kitchen, the volunteer dictates the OTP. The donor enters it in their portal. Only an exact string match marks status = `picked_up` and issues the CSR certificate.</a:t>
            </a:r>
          </a:p>
        </p:txBody>
      </p:sp>
      <p:sp>
        <p:nvSpPr>
          <p:cNvPr id="6" name="Rounded Rectangle 5"/>
          <p:cNvSpPr/>
          <p:nvPr/>
        </p:nvSpPr>
        <p:spPr>
          <a:xfrm>
            <a:off x="5760720" y="1645920"/>
            <a:ext cx="5669280" cy="3657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lIns="182880" tIns="73152"/>
          <a:lstStyle/>
          <a:p>
            <a:pPr algn="ctr">
              <a:defRPr sz="1100" b="1">
                <a:solidFill>
                  <a:srgbClr val="059669"/>
                </a:solidFill>
              </a:defRPr>
            </a:pPr>
            <a:r>
              <a:t>💻 ATOMIC CLAIM &amp; VERIFY (db.js)</a:t>
            </a:r>
          </a:p>
        </p:txBody>
      </p:sp>
      <p:sp>
        <p:nvSpPr>
          <p:cNvPr id="7" name="Rounded Rectangle 6"/>
          <p:cNvSpPr/>
          <p:nvPr/>
        </p:nvSpPr>
        <p:spPr>
          <a:xfrm>
            <a:off x="5760720" y="2011680"/>
            <a:ext cx="5669280" cy="4297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rIns="182880" bIns="137160"/>
          <a:lstStyle/>
          <a:p>
            <a:pPr algn="ctr">
              <a:defRPr sz="1000">
                <a:solidFill>
                  <a:srgbClr val="E2E8F0"/>
                </a:solidFill>
                <a:latin typeface="Consolas"/>
              </a:defRPr>
            </a:pPr>
            <a:r>
              <a:t>// server/src/db.js: Atomic Claim &amp; OTP Verification</a:t>
            </a:r>
          </a:p>
          <a:p>
            <a:pPr>
              <a:defRPr sz="1000">
                <a:solidFill>
                  <a:srgbClr val="E2E8F0"/>
                </a:solidFill>
                <a:latin typeface="Consolas"/>
              </a:defRPr>
            </a:pPr>
            <a:r>
              <a:t>async claimListing(id, claimer) {</a:t>
            </a:r>
          </a:p>
          <a:p>
            <a:pPr>
              <a:defRPr sz="1000">
                <a:solidFill>
                  <a:srgbClr val="E2E8F0"/>
                </a:solidFill>
                <a:latin typeface="Consolas"/>
              </a:defRPr>
            </a:pPr>
            <a:r>
              <a:t>  // 1. Generate 6-digit cryptographic PIN</a:t>
            </a:r>
          </a:p>
          <a:p>
            <a:pPr>
              <a:defRPr sz="1000">
                <a:solidFill>
                  <a:srgbClr val="E2E8F0"/>
                </a:solidFill>
                <a:latin typeface="Consolas"/>
              </a:defRPr>
            </a:pPr>
            <a:r>
              <a:t>  const otp = crypto.randomInt(100000, 999999).toString();</a:t>
            </a:r>
          </a:p>
          <a:p>
            <a:pPr>
              <a:defRPr sz="1000">
                <a:solidFill>
                  <a:srgbClr val="E2E8F0"/>
                </a:solidFill>
                <a:latin typeface="Consolas"/>
              </a:defRPr>
            </a:pPr>
            <a:r>
              <a:t>  </a:t>
            </a:r>
          </a:p>
          <a:p>
            <a:pPr>
              <a:defRPr sz="1000">
                <a:solidFill>
                  <a:srgbClr val="E2E8F0"/>
                </a:solidFill>
                <a:latin typeface="Consolas"/>
              </a:defRPr>
            </a:pPr>
            <a:r>
              <a:t>  // 2. Atomic state validation &amp; reservation</a:t>
            </a:r>
          </a:p>
          <a:p>
            <a:pPr>
              <a:defRPr sz="1000">
                <a:solidFill>
                  <a:srgbClr val="E2E8F0"/>
                </a:solidFill>
                <a:latin typeface="Consolas"/>
              </a:defRPr>
            </a:pPr>
            <a:r>
              <a:t>  const res = await pool.query(</a:t>
            </a:r>
          </a:p>
          <a:p>
            <a:pPr>
              <a:defRPr sz="1000">
                <a:solidFill>
                  <a:srgbClr val="E2E8F0"/>
                </a:solidFill>
                <a:latin typeface="Consolas"/>
              </a:defRPr>
            </a:pPr>
            <a:r>
              <a:t>    `UPDATE listings</a:t>
            </a:r>
          </a:p>
          <a:p>
            <a:pPr>
              <a:defRPr sz="1000">
                <a:solidFill>
                  <a:srgbClr val="E2E8F0"/>
                </a:solidFill>
                <a:latin typeface="Consolas"/>
              </a:defRPr>
            </a:pPr>
            <a:r>
              <a:t>     SET status = 'claimed', claimed_by = $1, otp = $2</a:t>
            </a:r>
          </a:p>
          <a:p>
            <a:pPr>
              <a:defRPr sz="1000">
                <a:solidFill>
                  <a:srgbClr val="E2E8F0"/>
                </a:solidFill>
                <a:latin typeface="Consolas"/>
              </a:defRPr>
            </a:pPr>
            <a:r>
              <a:t>     WHERE id = $3 AND status = 'pending'</a:t>
            </a:r>
          </a:p>
          <a:p>
            <a:pPr>
              <a:defRPr sz="1000">
                <a:solidFill>
                  <a:srgbClr val="E2E8F0"/>
                </a:solidFill>
                <a:latin typeface="Consolas"/>
              </a:defRPr>
            </a:pPr>
            <a:r>
              <a:t>     RETURNING *;`,</a:t>
            </a:r>
          </a:p>
          <a:p>
            <a:pPr>
              <a:defRPr sz="1000">
                <a:solidFill>
                  <a:srgbClr val="E2E8F0"/>
                </a:solidFill>
                <a:latin typeface="Consolas"/>
              </a:defRPr>
            </a:pPr>
            <a:r>
              <a:t>    [claimer.name, otp, id]</a:t>
            </a:r>
          </a:p>
          <a:p>
            <a:pPr>
              <a:defRPr sz="1000">
                <a:solidFill>
                  <a:srgbClr val="E2E8F0"/>
                </a:solidFill>
                <a:latin typeface="Consolas"/>
              </a:defRPr>
            </a:pPr>
            <a:r>
              <a:t>  );</a:t>
            </a:r>
          </a:p>
          <a:p>
            <a:pPr>
              <a:defRPr sz="1000">
                <a:solidFill>
                  <a:srgbClr val="E2E8F0"/>
                </a:solidFill>
                <a:latin typeface="Consolas"/>
              </a:defRPr>
            </a:pPr>
            <a:r>
              <a:t>  if (res.rowCount === 0) throw new Error('Listing already reserved');</a:t>
            </a:r>
          </a:p>
          <a:p>
            <a:pPr>
              <a:defRPr sz="1000">
                <a:solidFill>
                  <a:srgbClr val="E2E8F0"/>
                </a:solidFill>
                <a:latin typeface="Consolas"/>
              </a:defRPr>
            </a:pPr>
            <a:r>
              <a:t>  return formatListing(res.rows[0]);</a:t>
            </a:r>
          </a:p>
          <a:p>
            <a:pPr>
              <a:defRPr sz="1000">
                <a:solidFill>
                  <a:srgbClr val="E2E8F0"/>
                </a:solidFill>
                <a:latin typeface="Consolas"/>
              </a:defRPr>
            </a:pPr>
            <a:r>
              <a:t>}</a:t>
            </a:r>
          </a:p>
          <a:p>
            <a:pPr>
              <a:defRPr sz="1000">
                <a:solidFill>
                  <a:srgbClr val="E2E8F0"/>
                </a:solidFill>
                <a:latin typeface="Consolas"/>
              </a:defRPr>
            </a:pPr>
          </a:p>
          <a:p>
            <a:pPr>
              <a:defRPr sz="1000">
                <a:solidFill>
                  <a:srgbClr val="E2E8F0"/>
                </a:solidFill>
                <a:latin typeface="Consolas"/>
              </a:defRPr>
            </a:pPr>
            <a:r>
              <a:t>async verifyPickup(id, submittedOtp) {</a:t>
            </a:r>
          </a:p>
          <a:p>
            <a:pPr>
              <a:defRPr sz="1000">
                <a:solidFill>
                  <a:srgbClr val="E2E8F0"/>
                </a:solidFill>
                <a:latin typeface="Consolas"/>
              </a:defRPr>
            </a:pPr>
            <a:r>
              <a:t>  const row = (await pool.query('SELECT * FROM listings WHERE id = $1', [id])).rows[0];</a:t>
            </a:r>
          </a:p>
          <a:p>
            <a:pPr>
              <a:defRPr sz="1000">
                <a:solidFill>
                  <a:srgbClr val="E2E8F0"/>
                </a:solidFill>
                <a:latin typeface="Consolas"/>
              </a:defRPr>
            </a:pPr>
            <a:r>
              <a:t>  if (row.status !== 'claimed' || row.otp !== String(submittedOtp).trim()) {</a:t>
            </a:r>
          </a:p>
          <a:p>
            <a:pPr>
              <a:defRPr sz="1000">
                <a:solidFill>
                  <a:srgbClr val="E2E8F0"/>
                </a:solidFill>
                <a:latin typeface="Consolas"/>
              </a:defRPr>
            </a:pPr>
            <a:r>
              <a:t>    throw new Error('Invalid OTP or already picked up');</a:t>
            </a:r>
          </a:p>
          <a:p>
            <a:pPr>
              <a:defRPr sz="1000">
                <a:solidFill>
                  <a:srgbClr val="E2E8F0"/>
                </a:solidFill>
                <a:latin typeface="Consolas"/>
              </a:defRPr>
            </a:pPr>
            <a:r>
              <a:t>  }</a:t>
            </a:r>
          </a:p>
          <a:p>
            <a:pPr>
              <a:defRPr sz="1000">
                <a:solidFill>
                  <a:srgbClr val="E2E8F0"/>
                </a:solidFill>
                <a:latin typeface="Consolas"/>
              </a:defRPr>
            </a:pPr>
            <a:r>
              <a:t>  return pool.query("UPDATE listings SET status='picked_up' WHERE id=$1", [id]);</a:t>
            </a:r>
          </a:p>
          <a:p>
            <a:pPr>
              <a:defRPr sz="1000">
                <a:solidFill>
                  <a:srgbClr val="E2E8F0"/>
                </a:solidFill>
                <a:latin typeface="Consolas"/>
              </a:defRPr>
            </a:pP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065F46"/>
                </a:solidFill>
              </a:defRPr>
            </a:pPr>
            <a:r>
              <a:t>SHAREBITE • MID-TERM REVIEW</a:t>
            </a:r>
          </a:p>
        </p:txBody>
      </p:sp>
      <p:sp>
        <p:nvSpPr>
          <p:cNvPr id="4" name="TextBox 3"/>
          <p:cNvSpPr txBox="1"/>
          <p:nvPr/>
        </p:nvSpPr>
        <p:spPr>
          <a:xfrm>
            <a:off x="731520" y="731520"/>
            <a:ext cx="10515600" cy="548640"/>
          </a:xfrm>
          <a:prstGeom prst="rect">
            <a:avLst/>
          </a:prstGeom>
          <a:noFill/>
        </p:spPr>
        <p:txBody>
          <a:bodyPr wrap="square" lIns="0" tIns="0" rIns="0" bIns="0">
            <a:spAutoFit/>
          </a:bodyPr>
          <a:lstStyle/>
          <a:p>
            <a:pPr>
              <a:defRPr sz="2400" b="1">
                <a:solidFill>
                  <a:srgbClr val="0F172A"/>
                </a:solidFill>
              </a:defRPr>
            </a:pPr>
            <a:r>
              <a:t>Security Architecture: RBAC, JWT &amp; Password Hashing</a:t>
            </a:r>
          </a:p>
        </p:txBody>
      </p:sp>
      <p:sp>
        <p:nvSpPr>
          <p:cNvPr id="5" name="Rounded Rectangle 4"/>
          <p:cNvSpPr/>
          <p:nvPr/>
        </p:nvSpPr>
        <p:spPr>
          <a:xfrm>
            <a:off x="731520" y="164592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200">
                <a:solidFill>
                  <a:srgbClr val="0F172A"/>
                </a:solidFill>
              </a:defRPr>
            </a:pPr>
            <a:r>
              <a:t>Role-Based Access Control</a:t>
            </a:r>
          </a:p>
          <a:p>
            <a:pPr>
              <a:spcBef>
                <a:spcPts val="600"/>
              </a:spcBef>
              <a:defRPr sz="950">
                <a:solidFill>
                  <a:srgbClr val="334155"/>
                </a:solidFill>
              </a:defRPr>
            </a:pPr>
            <a:r>
              <a:t>3 distinct authorization tiers:</a:t>
            </a:r>
            <a:br/>
            <a:r>
              <a:t>• 'donor': Manage menus, post batches, verify OTPs</a:t>
            </a:r>
            <a:br/>
            <a:r>
              <a:t>• 'claimer': Explore map, reserve food, navigate</a:t>
            </a:r>
            <a:br/>
            <a:r>
              <a:t>• 'admin': 1-click partner verification &amp; audit logs</a:t>
            </a:r>
          </a:p>
        </p:txBody>
      </p:sp>
      <p:sp>
        <p:nvSpPr>
          <p:cNvPr id="6" name="Rounded Rectangle 5"/>
          <p:cNvSpPr/>
          <p:nvPr/>
        </p:nvSpPr>
        <p:spPr>
          <a:xfrm>
            <a:off x="4297680" y="164592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200">
                <a:solidFill>
                  <a:srgbClr val="065F46"/>
                </a:solidFill>
              </a:defRPr>
            </a:pPr>
            <a:r>
              <a:t>Bcrypt Password Hashing</a:t>
            </a:r>
          </a:p>
          <a:p>
            <a:pPr>
              <a:spcBef>
                <a:spcPts val="600"/>
              </a:spcBef>
              <a:defRPr sz="950">
                <a:solidFill>
                  <a:srgbClr val="334155"/>
                </a:solidFill>
              </a:defRPr>
            </a:pPr>
            <a:r>
              <a:t>Zero plain-text password storage:</a:t>
            </a:r>
            <a:br/>
            <a:r>
              <a:t>• bcryptjs with salt work factor = 10</a:t>
            </a:r>
            <a:br/>
            <a:r>
              <a:t>• Defends against rainbow table attacks</a:t>
            </a:r>
            <a:br/>
            <a:r>
              <a:t>• Constant-time comparison defends against timing attacks</a:t>
            </a:r>
          </a:p>
        </p:txBody>
      </p:sp>
      <p:sp>
        <p:nvSpPr>
          <p:cNvPr id="7" name="Rounded Rectangle 6"/>
          <p:cNvSpPr/>
          <p:nvPr/>
        </p:nvSpPr>
        <p:spPr>
          <a:xfrm>
            <a:off x="7863840" y="1645920"/>
            <a:ext cx="338328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200">
                <a:solidFill>
                  <a:srgbClr val="2563EB"/>
                </a:solidFill>
              </a:defRPr>
            </a:pPr>
            <a:r>
              <a:t>Stateless JWT Tokens</a:t>
            </a:r>
          </a:p>
          <a:p>
            <a:pPr>
              <a:spcBef>
                <a:spcPts val="600"/>
              </a:spcBef>
              <a:defRPr sz="950">
                <a:solidFill>
                  <a:srgbClr val="334155"/>
                </a:solidFill>
              </a:defRPr>
            </a:pPr>
            <a:r>
              <a:t>Digitally signed JSON Web Tokens:</a:t>
            </a:r>
            <a:br/>
            <a:r>
              <a:t>• Signed with HMAC-SHA256</a:t>
            </a:r>
            <a:br/>
            <a:r>
              <a:t>• Embedded payload: userId, role, verification</a:t>
            </a:r>
            <a:br/>
            <a:r>
              <a:t>• Expired in 24 hours, passed via Authorization Bearer header</a:t>
            </a:r>
          </a:p>
        </p:txBody>
      </p:sp>
      <p:sp>
        <p:nvSpPr>
          <p:cNvPr id="8" name="Rounded Rectangle 7"/>
          <p:cNvSpPr/>
          <p:nvPr/>
        </p:nvSpPr>
        <p:spPr>
          <a:xfrm>
            <a:off x="731520" y="3931920"/>
            <a:ext cx="10698480" cy="3657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lIns="182880" tIns="73152"/>
          <a:lstStyle/>
          <a:p>
            <a:pPr algn="ctr">
              <a:defRPr sz="1100" b="1">
                <a:solidFill>
                  <a:srgbClr val="059669"/>
                </a:solidFill>
              </a:defRPr>
            </a:pPr>
            <a:r>
              <a:t>💻 JWT AUTHENTICATION MIDDLEWARE (server/src/index.js)</a:t>
            </a:r>
          </a:p>
        </p:txBody>
      </p:sp>
      <p:sp>
        <p:nvSpPr>
          <p:cNvPr id="9" name="Rounded Rectangle 8"/>
          <p:cNvSpPr/>
          <p:nvPr/>
        </p:nvSpPr>
        <p:spPr>
          <a:xfrm>
            <a:off x="731520" y="4297680"/>
            <a:ext cx="10698480" cy="2011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rIns="182880" bIns="137160"/>
          <a:lstStyle/>
          <a:p>
            <a:pPr algn="ctr">
              <a:defRPr sz="1000">
                <a:solidFill>
                  <a:srgbClr val="E2E8F0"/>
                </a:solidFill>
                <a:latin typeface="Consolas"/>
              </a:defRPr>
            </a:pPr>
            <a:r>
              <a:t>// server/src/index.js: Auth &amp; JWT Verification Middleware</a:t>
            </a:r>
          </a:p>
          <a:p>
            <a:pPr>
              <a:defRPr sz="1000">
                <a:solidFill>
                  <a:srgbClr val="E2E8F0"/>
                </a:solidFill>
                <a:latin typeface="Consolas"/>
              </a:defRPr>
            </a:pPr>
            <a:r>
              <a:t>async function authenticateToken(req, res, next) {</a:t>
            </a:r>
          </a:p>
          <a:p>
            <a:pPr>
              <a:defRPr sz="1000">
                <a:solidFill>
                  <a:srgbClr val="E2E8F0"/>
                </a:solidFill>
                <a:latin typeface="Consolas"/>
              </a:defRPr>
            </a:pPr>
            <a:r>
              <a:t>  const token = req.headers.authorization?.replace('Bearer ', '');</a:t>
            </a:r>
          </a:p>
          <a:p>
            <a:pPr>
              <a:defRPr sz="1000">
                <a:solidFill>
                  <a:srgbClr val="E2E8F0"/>
                </a:solidFill>
                <a:latin typeface="Consolas"/>
              </a:defRPr>
            </a:pPr>
            <a:r>
              <a:t>  if (!token) return next(); // Allow anonymous public map browsing</a:t>
            </a:r>
          </a:p>
          <a:p>
            <a:pPr>
              <a:defRPr sz="1000">
                <a:solidFill>
                  <a:srgbClr val="E2E8F0"/>
                </a:solidFill>
                <a:latin typeface="Consolas"/>
              </a:defRPr>
            </a:pPr>
            <a:r>
              <a:t>  try {</a:t>
            </a:r>
          </a:p>
          <a:p>
            <a:pPr>
              <a:defRPr sz="1000">
                <a:solidFill>
                  <a:srgbClr val="E2E8F0"/>
                </a:solidFill>
                <a:latin typeface="Consolas"/>
              </a:defRPr>
            </a:pPr>
            <a:r>
              <a:t>    const payload = jwt.verify(token, jwtSecret);</a:t>
            </a:r>
          </a:p>
          <a:p>
            <a:pPr>
              <a:defRPr sz="1000">
                <a:solidFill>
                  <a:srgbClr val="E2E8F0"/>
                </a:solidFill>
                <a:latin typeface="Consolas"/>
              </a:defRPr>
            </a:pPr>
            <a:r>
              <a:t>    const user = await db.findUserById(payload.sub);</a:t>
            </a:r>
          </a:p>
          <a:p>
            <a:pPr>
              <a:defRPr sz="1000">
                <a:solidFill>
                  <a:srgbClr val="E2E8F0"/>
                </a:solidFill>
                <a:latin typeface="Consolas"/>
              </a:defRPr>
            </a:pPr>
            <a:r>
              <a:t>    if (user) req.user = user; // Attach verified session to request context</a:t>
            </a:r>
          </a:p>
          <a:p>
            <a:pPr>
              <a:defRPr sz="1000">
                <a:solidFill>
                  <a:srgbClr val="E2E8F0"/>
                </a:solidFill>
                <a:latin typeface="Consolas"/>
              </a:defRPr>
            </a:pPr>
            <a:r>
              <a:t>  } catch {</a:t>
            </a:r>
          </a:p>
          <a:p>
            <a:pPr>
              <a:defRPr sz="1000">
                <a:solidFill>
                  <a:srgbClr val="E2E8F0"/>
                </a:solidFill>
                <a:latin typeface="Consolas"/>
              </a:defRPr>
            </a:pPr>
            <a:r>
              <a:t>    // Expired or tampered token: proceed unauthenticated</a:t>
            </a:r>
          </a:p>
          <a:p>
            <a:pPr>
              <a:defRPr sz="1000">
                <a:solidFill>
                  <a:srgbClr val="E2E8F0"/>
                </a:solidFill>
                <a:latin typeface="Consolas"/>
              </a:defRPr>
            </a:pPr>
            <a:r>
              <a:t>  }</a:t>
            </a:r>
          </a:p>
          <a:p>
            <a:pPr>
              <a:defRPr sz="1000">
                <a:solidFill>
                  <a:srgbClr val="E2E8F0"/>
                </a:solidFill>
                <a:latin typeface="Consolas"/>
              </a:defRPr>
            </a:pPr>
            <a:r>
              <a:t>  next();</a:t>
            </a:r>
          </a:p>
          <a:p>
            <a:pPr>
              <a:defRPr sz="1000">
                <a:solidFill>
                  <a:srgbClr val="E2E8F0"/>
                </a:solidFill>
                <a:latin typeface="Consolas"/>
              </a:defRPr>
            </a:pP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065F46"/>
                </a:solidFill>
              </a:defRPr>
            </a:pPr>
            <a:r>
              <a:t>SHAREBITE • MID-TERM REVIEW</a:t>
            </a:r>
          </a:p>
        </p:txBody>
      </p:sp>
      <p:sp>
        <p:nvSpPr>
          <p:cNvPr id="4" name="TextBox 3"/>
          <p:cNvSpPr txBox="1"/>
          <p:nvPr/>
        </p:nvSpPr>
        <p:spPr>
          <a:xfrm>
            <a:off x="731520" y="731520"/>
            <a:ext cx="10515600" cy="548640"/>
          </a:xfrm>
          <a:prstGeom prst="rect">
            <a:avLst/>
          </a:prstGeom>
          <a:noFill/>
        </p:spPr>
        <p:txBody>
          <a:bodyPr wrap="square" lIns="0" tIns="0" rIns="0" bIns="0">
            <a:spAutoFit/>
          </a:bodyPr>
          <a:lstStyle/>
          <a:p>
            <a:pPr>
              <a:defRPr sz="2400" b="1">
                <a:solidFill>
                  <a:srgbClr val="0F172A"/>
                </a:solidFill>
              </a:defRPr>
            </a:pPr>
            <a:r>
              <a:t>Frontend Architecture: React 19 State &amp; Multi-Layer Map Engine</a:t>
            </a:r>
          </a:p>
        </p:txBody>
      </p:sp>
      <p:sp>
        <p:nvSpPr>
          <p:cNvPr id="5" name="Rounded Rectangle 4"/>
          <p:cNvSpPr/>
          <p:nvPr/>
        </p:nvSpPr>
        <p:spPr>
          <a:xfrm>
            <a:off x="731520" y="1645920"/>
            <a:ext cx="50292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b="1" sz="1300">
                <a:solidFill>
                  <a:srgbClr val="0F172A"/>
                </a:solidFill>
              </a:defRPr>
            </a:pPr>
            <a:r>
              <a:t>React 19 Component Tree &amp; Spatial Pins</a:t>
            </a:r>
          </a:p>
          <a:p>
            <a:pPr>
              <a:spcBef>
                <a:spcPts val="800"/>
              </a:spcBef>
            </a:pPr>
            <a:r>
              <a:rPr b="1" sz="1050">
                <a:solidFill>
                  <a:srgbClr val="0F172A"/>
                </a:solidFill>
              </a:rPr>
              <a:t>• Modular Component Structure:
</a:t>
            </a:r>
            <a:r>
              <a:rPr sz="950">
                <a:solidFill>
                  <a:srgbClr val="334155"/>
                </a:solidFill>
              </a:rPr>
              <a:t>Cleanly separated into `layout/` (Header, Banner, Sidebar, Toast), `dashboards/` (Claimer, Donor, Admin), `map/` (MapView, PolylineOverlay), and `modals/`.</a:t>
            </a:r>
          </a:p>
          <a:p>
            <a:pPr>
              <a:spcBef>
                <a:spcPts val="800"/>
              </a:spcBef>
            </a:pPr>
            <a:r>
              <a:rPr b="1" sz="1050">
                <a:solidFill>
                  <a:srgbClr val="0F172A"/>
                </a:solidFill>
              </a:rPr>
              <a:t>• Multi-Layer Map Pins:
</a:t>
            </a:r>
            <a:r>
              <a:rPr sz="950">
                <a:solidFill>
                  <a:srgbClr val="334155"/>
                </a:solidFill>
              </a:rPr>
              <a:t>Custom Leaflet DivIcons with CSS animations:
  🔵 Pulsing Radar Pin: User live GPS location
  🟠 Orange Marker: Active Surplus Food batches
  🔵 Blue Marker: Real-Time NGOs from Overpass
  🟢 Emerald Marker: Donating Restaurants</a:t>
            </a:r>
          </a:p>
          <a:p>
            <a:pPr>
              <a:spcBef>
                <a:spcPts val="800"/>
              </a:spcBef>
            </a:pPr>
            <a:r>
              <a:rPr b="1" sz="1050">
                <a:solidFill>
                  <a:srgbClr val="0F172A"/>
                </a:solidFill>
              </a:rPr>
              <a:t>• Geolocation Resilience:
</a:t>
            </a:r>
            <a:r>
              <a:rPr sz="950">
                <a:solidFill>
                  <a:srgbClr val="334155"/>
                </a:solidFill>
              </a:rPr>
              <a:t>HTML5 `navigator.geolocation` with high-accuracy mode. If GPS permission is blocked, it falls back to IP geolocation (`/api/geocode/ip`) or city preset selector.</a:t>
            </a:r>
          </a:p>
        </p:txBody>
      </p:sp>
      <p:sp>
        <p:nvSpPr>
          <p:cNvPr id="6" name="Rounded Rectangle 5"/>
          <p:cNvSpPr/>
          <p:nvPr/>
        </p:nvSpPr>
        <p:spPr>
          <a:xfrm>
            <a:off x="5943600" y="1645920"/>
            <a:ext cx="5486400" cy="3657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lIns="182880" tIns="73152"/>
          <a:lstStyle/>
          <a:p>
            <a:pPr algn="ctr">
              <a:defRPr sz="1100" b="1">
                <a:solidFill>
                  <a:srgbClr val="059669"/>
                </a:solidFill>
              </a:defRPr>
            </a:pPr>
            <a:r>
              <a:t>💻 REACT 19 STATE CONCURRENCY (client/src/App.jsx)</a:t>
            </a:r>
          </a:p>
        </p:txBody>
      </p:sp>
      <p:sp>
        <p:nvSpPr>
          <p:cNvPr id="7" name="Rounded Rectangle 6"/>
          <p:cNvSpPr/>
          <p:nvPr/>
        </p:nvSpPr>
        <p:spPr>
          <a:xfrm>
            <a:off x="5943600" y="2011680"/>
            <a:ext cx="5486400" cy="4297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rIns="182880" bIns="137160"/>
          <a:lstStyle/>
          <a:p>
            <a:pPr algn="ctr">
              <a:defRPr sz="1000">
                <a:solidFill>
                  <a:srgbClr val="E2E8F0"/>
                </a:solidFill>
                <a:latin typeface="Consolas"/>
              </a:defRPr>
            </a:pPr>
            <a:r>
              <a:t>// client/src/App.jsx: Refresh &amp; Multi-Source Geospatial Fetch</a:t>
            </a:r>
          </a:p>
          <a:p>
            <a:pPr>
              <a:defRPr sz="1000">
                <a:solidFill>
                  <a:srgbClr val="E2E8F0"/>
                </a:solidFill>
                <a:latin typeface="Consolas"/>
              </a:defRPr>
            </a:pPr>
            <a:r>
              <a:t>async function refresh(coords = userLocation, radius = radiusKm) {</a:t>
            </a:r>
          </a:p>
          <a:p>
            <a:pPr>
              <a:defRPr sz="1000">
                <a:solidFill>
                  <a:srgbClr val="E2E8F0"/>
                </a:solidFill>
                <a:latin typeface="Consolas"/>
              </a:defRPr>
            </a:pPr>
            <a:r>
              <a:t>  setLoading(true);</a:t>
            </a:r>
          </a:p>
          <a:p>
            <a:pPr>
              <a:defRPr sz="1000">
                <a:solidFill>
                  <a:srgbClr val="E2E8F0"/>
                </a:solidFill>
                <a:latin typeface="Consolas"/>
              </a:defRPr>
            </a:pPr>
            <a:r>
              <a:t>  try {</a:t>
            </a:r>
          </a:p>
          <a:p>
            <a:pPr>
              <a:defRPr sz="1000">
                <a:solidFill>
                  <a:srgbClr val="E2E8F0"/>
                </a:solidFill>
                <a:latin typeface="Consolas"/>
              </a:defRPr>
            </a:pPr>
            <a:r>
              <a:t>    const [listingsData, ngosData, donorsData] = await Promise.all([</a:t>
            </a:r>
          </a:p>
          <a:p>
            <a:pPr>
              <a:defRPr sz="1000">
                <a:solidFill>
                  <a:srgbClr val="E2E8F0"/>
                </a:solidFill>
                <a:latin typeface="Consolas"/>
              </a:defRPr>
            </a:pPr>
            <a:r>
              <a:t>      api(`/api/listings?lat=${coords.lat}&amp;lng=${coords.lng}&amp;radiusKm=${radius}`),</a:t>
            </a:r>
          </a:p>
          <a:p>
            <a:pPr>
              <a:defRPr sz="1000">
                <a:solidFill>
                  <a:srgbClr val="E2E8F0"/>
                </a:solidFill>
                <a:latin typeface="Consolas"/>
              </a:defRPr>
            </a:pPr>
            <a:r>
              <a:t>      api(`/api/ngo/nearby?lat=${coords.lat}&amp;lng=${coords.lng}&amp;radiusKm=${radius}`),</a:t>
            </a:r>
          </a:p>
          <a:p>
            <a:pPr>
              <a:defRPr sz="1000">
                <a:solidFill>
                  <a:srgbClr val="E2E8F0"/>
                </a:solidFill>
                <a:latin typeface="Consolas"/>
              </a:defRPr>
            </a:pPr>
            <a:r>
              <a:t>      api(`/api/donors/nearby?lat=${coords.lat}&amp;lng=${coords.lng}&amp;radiusKm=${radius}`),</a:t>
            </a:r>
          </a:p>
          <a:p>
            <a:pPr>
              <a:defRPr sz="1000">
                <a:solidFill>
                  <a:srgbClr val="E2E8F0"/>
                </a:solidFill>
                <a:latin typeface="Consolas"/>
              </a:defRPr>
            </a:pPr>
            <a:r>
              <a:t>    ]);</a:t>
            </a:r>
          </a:p>
          <a:p>
            <a:pPr>
              <a:defRPr sz="1000">
                <a:solidFill>
                  <a:srgbClr val="E2E8F0"/>
                </a:solidFill>
                <a:latin typeface="Consolas"/>
              </a:defRPr>
            </a:pPr>
            <a:r>
              <a:t>    setListings(listingsData);</a:t>
            </a:r>
          </a:p>
          <a:p>
            <a:pPr>
              <a:defRPr sz="1000">
                <a:solidFill>
                  <a:srgbClr val="E2E8F0"/>
                </a:solidFill>
                <a:latin typeface="Consolas"/>
              </a:defRPr>
            </a:pPr>
            <a:r>
              <a:t>    setNgos(ngosData);</a:t>
            </a:r>
          </a:p>
          <a:p>
            <a:pPr>
              <a:defRPr sz="1000">
                <a:solidFill>
                  <a:srgbClr val="E2E8F0"/>
                </a:solidFill>
                <a:latin typeface="Consolas"/>
              </a:defRPr>
            </a:pPr>
            <a:r>
              <a:t>    setDonors(donorsData);</a:t>
            </a:r>
          </a:p>
          <a:p>
            <a:pPr>
              <a:defRPr sz="1000">
                <a:solidFill>
                  <a:srgbClr val="E2E8F0"/>
                </a:solidFill>
                <a:latin typeface="Consolas"/>
              </a:defRPr>
            </a:pPr>
            <a:r>
              <a:t>  } finally {</a:t>
            </a:r>
          </a:p>
          <a:p>
            <a:pPr>
              <a:defRPr sz="1000">
                <a:solidFill>
                  <a:srgbClr val="E2E8F0"/>
                </a:solidFill>
                <a:latin typeface="Consolas"/>
              </a:defRPr>
            </a:pPr>
            <a:r>
              <a:t>    setLoading(false);</a:t>
            </a:r>
          </a:p>
          <a:p>
            <a:pPr>
              <a:defRPr sz="1000">
                <a:solidFill>
                  <a:srgbClr val="E2E8F0"/>
                </a:solidFill>
                <a:latin typeface="Consolas"/>
              </a:defRPr>
            </a:pPr>
            <a:r>
              <a:t>  }</a:t>
            </a:r>
          </a:p>
          <a:p>
            <a:pPr>
              <a:defRPr sz="1000">
                <a:solidFill>
                  <a:srgbClr val="E2E8F0"/>
                </a:solidFill>
                <a:latin typeface="Consolas"/>
              </a:defRPr>
            </a:pP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065F46"/>
                </a:solidFill>
              </a:defRPr>
            </a:pPr>
            <a:r>
              <a:t>SHAREBITE • MID-TERM REVIEW</a:t>
            </a:r>
          </a:p>
        </p:txBody>
      </p:sp>
      <p:sp>
        <p:nvSpPr>
          <p:cNvPr id="4" name="TextBox 3"/>
          <p:cNvSpPr txBox="1"/>
          <p:nvPr/>
        </p:nvSpPr>
        <p:spPr>
          <a:xfrm>
            <a:off x="731520" y="731520"/>
            <a:ext cx="10515600" cy="548640"/>
          </a:xfrm>
          <a:prstGeom prst="rect">
            <a:avLst/>
          </a:prstGeom>
          <a:noFill/>
        </p:spPr>
        <p:txBody>
          <a:bodyPr wrap="square" lIns="0" tIns="0" rIns="0" bIns="0">
            <a:spAutoFit/>
          </a:bodyPr>
          <a:lstStyle/>
          <a:p>
            <a:pPr>
              <a:defRPr sz="2400" b="1">
                <a:solidFill>
                  <a:srgbClr val="0F172A"/>
                </a:solidFill>
              </a:defRPr>
            </a:pPr>
            <a:r>
              <a:t>Turn-by-Turn Navigation: OSRM Route Calculation</a:t>
            </a:r>
          </a:p>
        </p:txBody>
      </p:sp>
      <p:sp>
        <p:nvSpPr>
          <p:cNvPr id="5" name="Rounded Rectangle 4"/>
          <p:cNvSpPr/>
          <p:nvPr/>
        </p:nvSpPr>
        <p:spPr>
          <a:xfrm>
            <a:off x="731520" y="1645920"/>
            <a:ext cx="50292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ctr">
              <a:defRPr b="1" sz="1300">
                <a:solidFill>
                  <a:srgbClr val="0F172A"/>
                </a:solidFill>
              </a:defRPr>
            </a:pPr>
            <a:r>
              <a:t>Routing Engine Architecture (OSRM)</a:t>
            </a:r>
          </a:p>
          <a:p>
            <a:pPr>
              <a:spcBef>
                <a:spcPts val="800"/>
              </a:spcBef>
            </a:pPr>
            <a:r>
              <a:rPr b="1" sz="1050">
                <a:solidFill>
                  <a:srgbClr val="2563EB"/>
                </a:solidFill>
              </a:rPr>
              <a:t>• The Volunteer Logistics Problem:
</a:t>
            </a:r>
            <a:r>
              <a:rPr sz="950">
                <a:solidFill>
                  <a:srgbClr val="334155"/>
                </a:solidFill>
              </a:rPr>
              <a:t>Volunteers collecting food need exact driving routes, transit distance, and estimated travel time (ETA) to ensure they arrive before the batch expires.</a:t>
            </a:r>
          </a:p>
          <a:p>
            <a:pPr>
              <a:spcBef>
                <a:spcPts val="800"/>
              </a:spcBef>
            </a:pPr>
            <a:r>
              <a:rPr b="1" sz="1050">
                <a:solidFill>
                  <a:srgbClr val="2563EB"/>
                </a:solidFill>
              </a:rPr>
              <a:t>• Open Source Routing Machine (OSRM):
</a:t>
            </a:r>
            <a:r>
              <a:rPr sz="950">
                <a:solidFill>
                  <a:srgbClr val="334155"/>
                </a:solidFill>
              </a:rPr>
              <a:t>Free, fast routing engine calculating shortest road network paths based on real street vectors.</a:t>
            </a:r>
          </a:p>
          <a:p>
            <a:pPr>
              <a:spcBef>
                <a:spcPts val="800"/>
              </a:spcBef>
            </a:pPr>
            <a:r>
              <a:rPr b="1" sz="1050">
                <a:solidFill>
                  <a:srgbClr val="2563EB"/>
                </a:solidFill>
              </a:rPr>
              <a:t>• Polyline Geometry Encoding:
</a:t>
            </a:r>
            <a:r>
              <a:rPr sz="950">
                <a:solidFill>
                  <a:srgbClr val="334155"/>
                </a:solidFill>
              </a:rPr>
              <a:t>The backend proxies the start coordinate (volunteer GPS) and destination coordinate (restaurant address), requesting `overview=full&amp;geometries=geojson`.</a:t>
            </a:r>
          </a:p>
          <a:p>
            <a:pPr>
              <a:spcBef>
                <a:spcPts val="800"/>
              </a:spcBef>
            </a:pPr>
            <a:r>
              <a:rPr b="1" sz="1050">
                <a:solidFill>
                  <a:srgbClr val="2563EB"/>
                </a:solidFill>
              </a:rPr>
              <a:t>• Instant Leaflet Canvas Render:
</a:t>
            </a:r>
            <a:r>
              <a:rPr sz="950">
                <a:solidFill>
                  <a:srgbClr val="334155"/>
                </a:solidFill>
              </a:rPr>
              <a:t>React receives the array of `[lat, lng]` coordinates and draws an interactive transit polyline directly over the map canvas.</a:t>
            </a:r>
          </a:p>
        </p:txBody>
      </p:sp>
      <p:sp>
        <p:nvSpPr>
          <p:cNvPr id="6" name="Rounded Rectangle 5"/>
          <p:cNvSpPr/>
          <p:nvPr/>
        </p:nvSpPr>
        <p:spPr>
          <a:xfrm>
            <a:off x="5943600" y="1645920"/>
            <a:ext cx="5486400" cy="3657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lIns="182880" tIns="73152"/>
          <a:lstStyle/>
          <a:p>
            <a:pPr algn="ctr">
              <a:defRPr sz="1100" b="1">
                <a:solidFill>
                  <a:srgbClr val="059669"/>
                </a:solidFill>
              </a:defRPr>
            </a:pPr>
            <a:r>
              <a:t>💻 OSRM ROUTING ENGINE (osmService.js)</a:t>
            </a:r>
          </a:p>
        </p:txBody>
      </p:sp>
      <p:sp>
        <p:nvSpPr>
          <p:cNvPr id="7" name="Rounded Rectangle 6"/>
          <p:cNvSpPr/>
          <p:nvPr/>
        </p:nvSpPr>
        <p:spPr>
          <a:xfrm>
            <a:off x="5943600" y="2011680"/>
            <a:ext cx="5486400" cy="4297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rIns="182880" bIns="137160"/>
          <a:lstStyle/>
          <a:p>
            <a:pPr algn="ctr">
              <a:defRPr sz="1000">
                <a:solidFill>
                  <a:srgbClr val="E2E8F0"/>
                </a:solidFill>
                <a:latin typeface="Consolas"/>
              </a:defRPr>
            </a:pPr>
            <a:r>
              <a:t>// server/src/services/osmService.js: OSRM Driving Route Proxy</a:t>
            </a:r>
          </a:p>
          <a:p>
            <a:pPr>
              <a:defRPr sz="1000">
                <a:solidFill>
                  <a:srgbClr val="E2E8F0"/>
                </a:solidFill>
                <a:latin typeface="Consolas"/>
              </a:defRPr>
            </a:pPr>
            <a:r>
              <a:t>async function fetchRouteBetween(startLat, startLng, endLat, endLng) {</a:t>
            </a:r>
          </a:p>
          <a:p>
            <a:pPr>
              <a:defRPr sz="1000">
                <a:solidFill>
                  <a:srgbClr val="E2E8F0"/>
                </a:solidFill>
                <a:latin typeface="Consolas"/>
              </a:defRPr>
            </a:pPr>
            <a:r>
              <a:t>  const url = `https://router.project-osrm.org/route/v1/driving/` +</a:t>
            </a:r>
          </a:p>
          <a:p>
            <a:pPr>
              <a:defRPr sz="1000">
                <a:solidFill>
                  <a:srgbClr val="E2E8F0"/>
                </a:solidFill>
                <a:latin typeface="Consolas"/>
              </a:defRPr>
            </a:pPr>
            <a:r>
              <a:t>              `${startLng},${startLat};${endLng},${endLat}` +</a:t>
            </a:r>
          </a:p>
          <a:p>
            <a:pPr>
              <a:defRPr sz="1000">
                <a:solidFill>
                  <a:srgbClr val="E2E8F0"/>
                </a:solidFill>
                <a:latin typeface="Consolas"/>
              </a:defRPr>
            </a:pPr>
            <a:r>
              <a:t>              `?overview=full&amp;geometries=geojson`;</a:t>
            </a:r>
          </a:p>
          <a:p>
            <a:pPr>
              <a:defRPr sz="1000">
                <a:solidFill>
                  <a:srgbClr val="E2E8F0"/>
                </a:solidFill>
                <a:latin typeface="Consolas"/>
              </a:defRPr>
            </a:pPr>
          </a:p>
          <a:p>
            <a:pPr>
              <a:defRPr sz="1000">
                <a:solidFill>
                  <a:srgbClr val="E2E8F0"/>
                </a:solidFill>
                <a:latin typeface="Consolas"/>
              </a:defRPr>
            </a:pPr>
            <a:r>
              <a:t>  const res = await fetch(url, { signal: AbortController.timeout(4000) });</a:t>
            </a:r>
          </a:p>
          <a:p>
            <a:pPr>
              <a:defRPr sz="1000">
                <a:solidFill>
                  <a:srgbClr val="E2E8F0"/>
                </a:solidFill>
                <a:latin typeface="Consolas"/>
              </a:defRPr>
            </a:pPr>
            <a:r>
              <a:t>  const data = await res.json();</a:t>
            </a:r>
          </a:p>
          <a:p>
            <a:pPr>
              <a:defRPr sz="1000">
                <a:solidFill>
                  <a:srgbClr val="E2E8F0"/>
                </a:solidFill>
                <a:latin typeface="Consolas"/>
              </a:defRPr>
            </a:pPr>
            <a:r>
              <a:t>  const route = data.routes?.[0];</a:t>
            </a:r>
          </a:p>
          <a:p>
            <a:pPr>
              <a:defRPr sz="1000">
                <a:solidFill>
                  <a:srgbClr val="E2E8F0"/>
                </a:solidFill>
                <a:latin typeface="Consolas"/>
              </a:defRPr>
            </a:pPr>
            <a:r>
              <a:t>  if (!route) return null;</a:t>
            </a:r>
          </a:p>
          <a:p>
            <a:pPr>
              <a:defRPr sz="1000">
                <a:solidFill>
                  <a:srgbClr val="E2E8F0"/>
                </a:solidFill>
                <a:latin typeface="Consolas"/>
              </a:defRPr>
            </a:pPr>
          </a:p>
          <a:p>
            <a:pPr>
              <a:defRPr sz="1000">
                <a:solidFill>
                  <a:srgbClr val="E2E8F0"/>
                </a:solidFill>
                <a:latin typeface="Consolas"/>
              </a:defRPr>
            </a:pPr>
            <a:r>
              <a:t>  return {</a:t>
            </a:r>
          </a:p>
          <a:p>
            <a:pPr>
              <a:defRPr sz="1000">
                <a:solidFill>
                  <a:srgbClr val="E2E8F0"/>
                </a:solidFill>
                <a:latin typeface="Consolas"/>
              </a:defRPr>
            </a:pPr>
            <a:r>
              <a:t>    coordinates: route.geometry.coordinates.map(([lng, lat]) =&gt; [lat, lng]),</a:t>
            </a:r>
          </a:p>
          <a:p>
            <a:pPr>
              <a:defRPr sz="1000">
                <a:solidFill>
                  <a:srgbClr val="E2E8F0"/>
                </a:solidFill>
                <a:latin typeface="Consolas"/>
              </a:defRPr>
            </a:pPr>
            <a:r>
              <a:t>    distanceKm: Number((route.distance / 1000).toFixed(1)),</a:t>
            </a:r>
          </a:p>
          <a:p>
            <a:pPr>
              <a:defRPr sz="1000">
                <a:solidFill>
                  <a:srgbClr val="E2E8F0"/>
                </a:solidFill>
                <a:latin typeface="Consolas"/>
              </a:defRPr>
            </a:pPr>
            <a:r>
              <a:t>    durationMinutes: Math.round(route.duration / 60),</a:t>
            </a:r>
          </a:p>
          <a:p>
            <a:pPr>
              <a:defRPr sz="1000">
                <a:solidFill>
                  <a:srgbClr val="E2E8F0"/>
                </a:solidFill>
                <a:latin typeface="Consolas"/>
              </a:defRPr>
            </a:pPr>
            <a:r>
              <a:t>  };</a:t>
            </a:r>
          </a:p>
          <a:p>
            <a:pPr>
              <a:defRPr sz="1000">
                <a:solidFill>
                  <a:srgbClr val="E2E8F0"/>
                </a:solidFill>
                <a:latin typeface="Consolas"/>
              </a:defRPr>
            </a:pPr>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065F46"/>
                </a:solidFill>
              </a:defRPr>
            </a:pPr>
            <a:r>
              <a:t>SHAREBITE • MID-TERM REVIEW</a:t>
            </a:r>
          </a:p>
        </p:txBody>
      </p:sp>
      <p:sp>
        <p:nvSpPr>
          <p:cNvPr id="4" name="TextBox 3"/>
          <p:cNvSpPr txBox="1"/>
          <p:nvPr/>
        </p:nvSpPr>
        <p:spPr>
          <a:xfrm>
            <a:off x="731520" y="731520"/>
            <a:ext cx="10515600" cy="548640"/>
          </a:xfrm>
          <a:prstGeom prst="rect">
            <a:avLst/>
          </a:prstGeom>
          <a:noFill/>
        </p:spPr>
        <p:txBody>
          <a:bodyPr wrap="square" lIns="0" tIns="0" rIns="0" bIns="0">
            <a:spAutoFit/>
          </a:bodyPr>
          <a:lstStyle/>
          <a:p>
            <a:pPr>
              <a:defRPr sz="2400" b="1">
                <a:solidFill>
                  <a:srgbClr val="0F172A"/>
                </a:solidFill>
              </a:defRPr>
            </a:pPr>
            <a:r>
              <a:t>Testing, Verification &amp; Boundary Condition Handling</a:t>
            </a:r>
          </a:p>
        </p:txBody>
      </p:sp>
      <p:sp>
        <p:nvSpPr>
          <p:cNvPr id="5" name="Rounded Rectangle 4"/>
          <p:cNvSpPr/>
          <p:nvPr/>
        </p:nvSpPr>
        <p:spPr>
          <a:xfrm>
            <a:off x="731520" y="164592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r>
              <a:rPr b="1" sz="1100">
                <a:solidFill>
                  <a:srgbClr val="0F172A"/>
                </a:solidFill>
              </a:rPr>
              <a:t>Double-Claim Concurrency: </a:t>
            </a:r>
            <a:r>
              <a:rPr b="1" sz="1000">
                <a:solidFill>
                  <a:srgbClr val="065F46"/>
                </a:solidFill>
              </a:rPr>
              <a:t>PASSED ✅</a:t>
            </a:r>
          </a:p>
          <a:p>
            <a:pPr>
              <a:spcBef>
                <a:spcPts val="300"/>
              </a:spcBef>
              <a:defRPr sz="950">
                <a:solidFill>
                  <a:srgbClr val="64748B"/>
                </a:solidFill>
              </a:defRPr>
            </a:pPr>
            <a:r>
              <a:t>Action: 2 simulate concurrent claims on same batch</a:t>
            </a:r>
          </a:p>
          <a:p>
            <a:pPr>
              <a:spcBef>
                <a:spcPts val="200"/>
              </a:spcBef>
              <a:defRPr sz="950">
                <a:solidFill>
                  <a:srgbClr val="334155"/>
                </a:solidFill>
              </a:defRPr>
            </a:pPr>
            <a:r>
              <a:t>Result: Database row-lock succeeds for first; second rejected with HTTP 409 Conflict. Zero race condition.</a:t>
            </a:r>
          </a:p>
        </p:txBody>
      </p:sp>
      <p:sp>
        <p:nvSpPr>
          <p:cNvPr id="6" name="Rounded Rectangle 5"/>
          <p:cNvSpPr/>
          <p:nvPr/>
        </p:nvSpPr>
        <p:spPr>
          <a:xfrm>
            <a:off x="6126480" y="164592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r>
              <a:rPr b="1" sz="1100">
                <a:solidFill>
                  <a:srgbClr val="0F172A"/>
                </a:solidFill>
              </a:rPr>
              <a:t>Food Shelf-Life Expiration: </a:t>
            </a:r>
            <a:r>
              <a:rPr b="1" sz="1000">
                <a:solidFill>
                  <a:srgbClr val="065F46"/>
                </a:solidFill>
              </a:rPr>
              <a:t>PASSED ✅</a:t>
            </a:r>
          </a:p>
          <a:p>
            <a:pPr>
              <a:spcBef>
                <a:spcPts val="300"/>
              </a:spcBef>
              <a:defRPr sz="950">
                <a:solidFill>
                  <a:srgbClr val="64748B"/>
                </a:solidFill>
              </a:defRPr>
            </a:pPr>
            <a:r>
              <a:t>Action: List batch expiring in 2 seconds; wait for cron</a:t>
            </a:r>
          </a:p>
          <a:p>
            <a:pPr>
              <a:spcBef>
                <a:spcPts val="200"/>
              </a:spcBef>
              <a:defRPr sz="950">
                <a:solidFill>
                  <a:srgbClr val="334155"/>
                </a:solidFill>
              </a:defRPr>
            </a:pPr>
            <a:r>
              <a:t>Result: node-cron fires at 60s mark; marks record status='expired'. Auto-removed from map.</a:t>
            </a:r>
          </a:p>
        </p:txBody>
      </p:sp>
      <p:sp>
        <p:nvSpPr>
          <p:cNvPr id="7" name="Rounded Rectangle 6"/>
          <p:cNvSpPr/>
          <p:nvPr/>
        </p:nvSpPr>
        <p:spPr>
          <a:xfrm>
            <a:off x="731520" y="320040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r>
              <a:rPr b="1" sz="1100">
                <a:solidFill>
                  <a:srgbClr val="0F172A"/>
                </a:solidFill>
              </a:rPr>
              <a:t>OSM Overpass Latency: </a:t>
            </a:r>
            <a:r>
              <a:rPr b="1" sz="1000">
                <a:solidFill>
                  <a:srgbClr val="065F46"/>
                </a:solidFill>
              </a:rPr>
              <a:t>PASSED ✅</a:t>
            </a:r>
          </a:p>
          <a:p>
            <a:pPr>
              <a:spcBef>
                <a:spcPts val="300"/>
              </a:spcBef>
              <a:defRPr sz="950">
                <a:solidFill>
                  <a:srgbClr val="64748B"/>
                </a:solidFill>
              </a:defRPr>
            </a:pPr>
            <a:r>
              <a:t>Action: Simulate Overpass server latency &gt; 5s</a:t>
            </a:r>
          </a:p>
          <a:p>
            <a:pPr>
              <a:spcBef>
                <a:spcPts val="200"/>
              </a:spcBef>
              <a:defRPr sz="950">
                <a:solidFill>
                  <a:srgbClr val="334155"/>
                </a:solidFill>
              </a:defRPr>
            </a:pPr>
            <a:r>
              <a:t>Result: AbortController fires at 5000ms; backend falls back gracefully to internal verified NGOs.</a:t>
            </a:r>
          </a:p>
        </p:txBody>
      </p:sp>
      <p:sp>
        <p:nvSpPr>
          <p:cNvPr id="8" name="Rounded Rectangle 7"/>
          <p:cNvSpPr/>
          <p:nvPr/>
        </p:nvSpPr>
        <p:spPr>
          <a:xfrm>
            <a:off x="6126480" y="320040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r>
              <a:rPr b="1" sz="1100">
                <a:solidFill>
                  <a:srgbClr val="0F172A"/>
                </a:solidFill>
              </a:rPr>
              <a:t>Database Outage / Offline: </a:t>
            </a:r>
            <a:r>
              <a:rPr b="1" sz="1000">
                <a:solidFill>
                  <a:srgbClr val="065F46"/>
                </a:solidFill>
              </a:rPr>
              <a:t>PASSED ✅</a:t>
            </a:r>
          </a:p>
          <a:p>
            <a:pPr>
              <a:spcBef>
                <a:spcPts val="300"/>
              </a:spcBef>
              <a:defRPr sz="950">
                <a:solidFill>
                  <a:srgbClr val="64748B"/>
                </a:solidFill>
              </a:defRPr>
            </a:pPr>
            <a:r>
              <a:t>Action: Start backend without active PostgreSQL</a:t>
            </a:r>
          </a:p>
          <a:p>
            <a:pPr>
              <a:spcBef>
                <a:spcPts val="200"/>
              </a:spcBef>
              <a:defRPr sz="950">
                <a:solidFill>
                  <a:srgbClr val="334155"/>
                </a:solidFill>
              </a:defRPr>
            </a:pPr>
            <a:r>
              <a:t>Result: Auto-switches to Zero-Config in-memory repository with pre-seeded data. No server crash.</a:t>
            </a:r>
          </a:p>
        </p:txBody>
      </p:sp>
      <p:sp>
        <p:nvSpPr>
          <p:cNvPr id="9" name="Rounded Rectangle 8"/>
          <p:cNvSpPr/>
          <p:nvPr/>
        </p:nvSpPr>
        <p:spPr>
          <a:xfrm>
            <a:off x="731520" y="475488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r>
              <a:rPr b="1" sz="1100">
                <a:solidFill>
                  <a:srgbClr val="0F172A"/>
                </a:solidFill>
              </a:rPr>
              <a:t>GPS Permission Blocked: </a:t>
            </a:r>
            <a:r>
              <a:rPr b="1" sz="1000">
                <a:solidFill>
                  <a:srgbClr val="065F46"/>
                </a:solidFill>
              </a:rPr>
              <a:t>PASSED ✅</a:t>
            </a:r>
          </a:p>
          <a:p>
            <a:pPr>
              <a:spcBef>
                <a:spcPts val="300"/>
              </a:spcBef>
              <a:defRPr sz="950">
                <a:solidFill>
                  <a:srgbClr val="64748B"/>
                </a:solidFill>
              </a:defRPr>
            </a:pPr>
            <a:r>
              <a:t>Action: Deny browser geolocation permissions</a:t>
            </a:r>
          </a:p>
          <a:p>
            <a:pPr>
              <a:spcBef>
                <a:spcPts val="200"/>
              </a:spcBef>
              <a:defRPr sz="950">
                <a:solidFill>
                  <a:srgbClr val="334155"/>
                </a:solidFill>
              </a:defRPr>
            </a:pPr>
            <a:r>
              <a:t>Result: Auto-falls back to IP geolocation service and activates City Preset selector.</a:t>
            </a:r>
          </a:p>
        </p:txBody>
      </p:sp>
      <p:sp>
        <p:nvSpPr>
          <p:cNvPr id="10" name="Rounded Rectangle 9"/>
          <p:cNvSpPr/>
          <p:nvPr/>
        </p:nvSpPr>
        <p:spPr>
          <a:xfrm>
            <a:off x="6126480" y="4754880"/>
            <a:ext cx="52120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r>
              <a:rPr b="1" sz="1100">
                <a:solidFill>
                  <a:srgbClr val="0F172A"/>
                </a:solidFill>
              </a:rPr>
              <a:t>Invalid OTP Verification: </a:t>
            </a:r>
            <a:r>
              <a:rPr b="1" sz="1000">
                <a:solidFill>
                  <a:srgbClr val="065F46"/>
                </a:solidFill>
              </a:rPr>
              <a:t>PASSED ✅</a:t>
            </a:r>
          </a:p>
          <a:p>
            <a:pPr>
              <a:spcBef>
                <a:spcPts val="300"/>
              </a:spcBef>
              <a:defRPr sz="950">
                <a:solidFill>
                  <a:srgbClr val="64748B"/>
                </a:solidFill>
              </a:defRPr>
            </a:pPr>
            <a:r>
              <a:t>Action: Volunteer submits incorrect 6-digit OTP</a:t>
            </a:r>
          </a:p>
          <a:p>
            <a:pPr>
              <a:spcBef>
                <a:spcPts val="200"/>
              </a:spcBef>
              <a:defRPr sz="950">
                <a:solidFill>
                  <a:srgbClr val="334155"/>
                </a:solidFill>
              </a:defRPr>
            </a:pPr>
            <a:r>
              <a:t>Result: Server checks row.otp; rejects with 400 Bad Request. Status remains 'claimed'.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065F46"/>
                </a:solidFill>
              </a:defRPr>
            </a:pPr>
            <a:r>
              <a:t>SHAREBITE • MID-TERM REVIEW</a:t>
            </a:r>
          </a:p>
        </p:txBody>
      </p:sp>
      <p:sp>
        <p:nvSpPr>
          <p:cNvPr id="4" name="TextBox 3"/>
          <p:cNvSpPr txBox="1"/>
          <p:nvPr/>
        </p:nvSpPr>
        <p:spPr>
          <a:xfrm>
            <a:off x="731520" y="731520"/>
            <a:ext cx="10515600" cy="548640"/>
          </a:xfrm>
          <a:prstGeom prst="rect">
            <a:avLst/>
          </a:prstGeom>
          <a:noFill/>
        </p:spPr>
        <p:txBody>
          <a:bodyPr wrap="square" lIns="0" tIns="0" rIns="0" bIns="0">
            <a:spAutoFit/>
          </a:bodyPr>
          <a:lstStyle/>
          <a:p>
            <a:pPr>
              <a:defRPr sz="2400" b="1">
                <a:solidFill>
                  <a:srgbClr val="0F172A"/>
                </a:solidFill>
              </a:defRPr>
            </a:pPr>
            <a:r>
              <a:t>Implementation Status: Mid-Term Milestones Achieved</a:t>
            </a:r>
          </a:p>
        </p:txBody>
      </p:sp>
      <p:sp>
        <p:nvSpPr>
          <p:cNvPr id="5" name="Rounded Rectangle 4"/>
          <p:cNvSpPr/>
          <p:nvPr/>
        </p:nvSpPr>
        <p:spPr>
          <a:xfrm>
            <a:off x="731520" y="1645920"/>
            <a:ext cx="10698480" cy="7315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b="1" sz="1400">
                <a:solidFill>
                  <a:srgbClr val="059669"/>
                </a:solidFill>
              </a:defRPr>
            </a:pPr>
            <a:r>
              <a:t>🎯 Current Progress: 85% of Planned Full-Stack System Implemented and Verified</a:t>
            </a:r>
          </a:p>
        </p:txBody>
      </p:sp>
      <p:sp>
        <p:nvSpPr>
          <p:cNvPr id="6" name="Rounded Rectangle 5"/>
          <p:cNvSpPr/>
          <p:nvPr/>
        </p:nvSpPr>
        <p:spPr>
          <a:xfrm>
            <a:off x="731520" y="2560320"/>
            <a:ext cx="52120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09728"/>
          <a:lstStyle/>
          <a:p>
            <a:pPr algn="ctr"/>
            <a:r>
              <a:rPr b="1" sz="1100">
                <a:solidFill>
                  <a:srgbClr val="0F172A"/>
                </a:solidFill>
              </a:rPr>
              <a:t>Module A: Core Food Lifecycle — </a:t>
            </a:r>
            <a:r>
              <a:rPr b="1" sz="1000">
                <a:solidFill>
                  <a:srgbClr val="065F46"/>
                </a:solidFill>
              </a:rPr>
              <a:t>100% DONE ✅</a:t>
            </a:r>
          </a:p>
          <a:p>
            <a:pPr>
              <a:spcBef>
                <a:spcPts val="300"/>
              </a:spcBef>
              <a:defRPr sz="950">
                <a:solidFill>
                  <a:srgbClr val="334155"/>
                </a:solidFill>
              </a:defRPr>
            </a:pPr>
            <a:r>
              <a:t>Surplus posting, countdown timer, unit conversion, veg/non-veg classification.</a:t>
            </a:r>
          </a:p>
        </p:txBody>
      </p:sp>
      <p:sp>
        <p:nvSpPr>
          <p:cNvPr id="7" name="Rounded Rectangle 6"/>
          <p:cNvSpPr/>
          <p:nvPr/>
        </p:nvSpPr>
        <p:spPr>
          <a:xfrm>
            <a:off x="6126480" y="2560320"/>
            <a:ext cx="52120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09728"/>
          <a:lstStyle/>
          <a:p>
            <a:pPr algn="ctr"/>
            <a:r>
              <a:rPr b="1" sz="1100">
                <a:solidFill>
                  <a:srgbClr val="0F172A"/>
                </a:solidFill>
              </a:rPr>
              <a:t>Module B: Geospatial Engine — </a:t>
            </a:r>
            <a:r>
              <a:rPr b="1" sz="1000">
                <a:solidFill>
                  <a:srgbClr val="065F46"/>
                </a:solidFill>
              </a:rPr>
              <a:t>100% DONE ✅</a:t>
            </a:r>
          </a:p>
          <a:p>
            <a:pPr>
              <a:spcBef>
                <a:spcPts val="300"/>
              </a:spcBef>
              <a:defRPr sz="950">
                <a:solidFill>
                  <a:srgbClr val="334155"/>
                </a:solidFill>
              </a:defRPr>
            </a:pPr>
            <a:r>
              <a:t>Haversine math, Overpass API query, Leaflet radar map, Nominatim geocoding.</a:t>
            </a:r>
          </a:p>
        </p:txBody>
      </p:sp>
      <p:sp>
        <p:nvSpPr>
          <p:cNvPr id="8" name="Rounded Rectangle 7"/>
          <p:cNvSpPr/>
          <p:nvPr/>
        </p:nvSpPr>
        <p:spPr>
          <a:xfrm>
            <a:off x="731520" y="3840479"/>
            <a:ext cx="52120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09728"/>
          <a:lstStyle/>
          <a:p>
            <a:pPr algn="ctr"/>
            <a:r>
              <a:rPr b="1" sz="1100">
                <a:solidFill>
                  <a:srgbClr val="0F172A"/>
                </a:solidFill>
              </a:rPr>
              <a:t>Module C: Verification &amp; Security — </a:t>
            </a:r>
            <a:r>
              <a:rPr b="1" sz="1000">
                <a:solidFill>
                  <a:srgbClr val="065F46"/>
                </a:solidFill>
              </a:rPr>
              <a:t>100% DONE ✅</a:t>
            </a:r>
          </a:p>
          <a:p>
            <a:pPr>
              <a:spcBef>
                <a:spcPts val="300"/>
              </a:spcBef>
              <a:defRPr sz="950">
                <a:solidFill>
                  <a:srgbClr val="334155"/>
                </a:solidFill>
              </a:defRPr>
            </a:pPr>
            <a:r>
              <a:t>6-digit OTP generator, atomic SQL locking, bcrypt hashing, JWT issuance.</a:t>
            </a:r>
          </a:p>
        </p:txBody>
      </p:sp>
      <p:sp>
        <p:nvSpPr>
          <p:cNvPr id="9" name="Rounded Rectangle 8"/>
          <p:cNvSpPr/>
          <p:nvPr/>
        </p:nvSpPr>
        <p:spPr>
          <a:xfrm>
            <a:off x="6126480" y="3840479"/>
            <a:ext cx="52120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09728"/>
          <a:lstStyle/>
          <a:p>
            <a:pPr algn="ctr"/>
            <a:r>
              <a:rPr b="1" sz="1100">
                <a:solidFill>
                  <a:srgbClr val="0F172A"/>
                </a:solidFill>
              </a:rPr>
              <a:t>Module D: Automated Safety Daemon — </a:t>
            </a:r>
            <a:r>
              <a:rPr b="1" sz="1000">
                <a:solidFill>
                  <a:srgbClr val="065F46"/>
                </a:solidFill>
              </a:rPr>
              <a:t>100% DONE ✅</a:t>
            </a:r>
          </a:p>
          <a:p>
            <a:pPr>
              <a:spcBef>
                <a:spcPts val="300"/>
              </a:spcBef>
              <a:defRPr sz="950">
                <a:solidFill>
                  <a:srgbClr val="334155"/>
                </a:solidFill>
              </a:defRPr>
            </a:pPr>
            <a:r>
              <a:t>node-cron 60s expiration sweeper, state invalidation, public health enforcement.</a:t>
            </a:r>
          </a:p>
        </p:txBody>
      </p:sp>
      <p:sp>
        <p:nvSpPr>
          <p:cNvPr id="10" name="Rounded Rectangle 9"/>
          <p:cNvSpPr/>
          <p:nvPr/>
        </p:nvSpPr>
        <p:spPr>
          <a:xfrm>
            <a:off x="731520" y="5120640"/>
            <a:ext cx="52120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09728"/>
          <a:lstStyle/>
          <a:p>
            <a:pPr algn="ctr"/>
            <a:r>
              <a:rPr b="1" sz="1100">
                <a:solidFill>
                  <a:srgbClr val="0F172A"/>
                </a:solidFill>
              </a:rPr>
              <a:t>Module E: Admin &amp; Social Impact — </a:t>
            </a:r>
            <a:r>
              <a:rPr b="1" sz="1000">
                <a:solidFill>
                  <a:srgbClr val="065F46"/>
                </a:solidFill>
              </a:rPr>
              <a:t>100% DONE ✅</a:t>
            </a:r>
          </a:p>
          <a:p>
            <a:pPr>
              <a:spcBef>
                <a:spcPts val="300"/>
              </a:spcBef>
              <a:defRPr sz="950">
                <a:solidFill>
                  <a:srgbClr val="334155"/>
                </a:solidFill>
              </a:defRPr>
            </a:pPr>
            <a:r>
              <a:t>Aggregated meals saved, kg diverted, printable CSR Impact Certificate generator.</a:t>
            </a:r>
          </a:p>
        </p:txBody>
      </p:sp>
      <p:sp>
        <p:nvSpPr>
          <p:cNvPr id="11" name="Rounded Rectangle 10"/>
          <p:cNvSpPr/>
          <p:nvPr/>
        </p:nvSpPr>
        <p:spPr>
          <a:xfrm>
            <a:off x="6126480" y="5120640"/>
            <a:ext cx="52120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09728"/>
          <a:lstStyle/>
          <a:p>
            <a:pPr algn="ctr"/>
            <a:r>
              <a:rPr b="1" sz="1100">
                <a:solidFill>
                  <a:srgbClr val="0F172A"/>
                </a:solidFill>
              </a:rPr>
              <a:t>Module F: Real-Time WebSockets — </a:t>
            </a:r>
            <a:r>
              <a:rPr b="1" sz="1000">
                <a:solidFill>
                  <a:srgbClr val="D97706"/>
                </a:solidFill>
              </a:rPr>
              <a:t>60% IN PROGRESS ⏳</a:t>
            </a:r>
          </a:p>
          <a:p>
            <a:pPr>
              <a:spcBef>
                <a:spcPts val="300"/>
              </a:spcBef>
              <a:defRPr sz="950">
                <a:solidFill>
                  <a:srgbClr val="334155"/>
                </a:solidFill>
              </a:defRPr>
            </a:pPr>
            <a:r>
              <a:t>Live push notifications to nearby NGOs without page polling (In Progress for Final).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065F46"/>
                </a:solidFill>
              </a:defRPr>
            </a:pPr>
            <a:r>
              <a:t>SHAREBITE • MID-TERM REVIEW</a:t>
            </a:r>
          </a:p>
        </p:txBody>
      </p:sp>
      <p:sp>
        <p:nvSpPr>
          <p:cNvPr id="4" name="TextBox 3"/>
          <p:cNvSpPr txBox="1"/>
          <p:nvPr/>
        </p:nvSpPr>
        <p:spPr>
          <a:xfrm>
            <a:off x="731520" y="731520"/>
            <a:ext cx="10515600" cy="548640"/>
          </a:xfrm>
          <a:prstGeom prst="rect">
            <a:avLst/>
          </a:prstGeom>
          <a:noFill/>
        </p:spPr>
        <p:txBody>
          <a:bodyPr wrap="square" lIns="0" tIns="0" rIns="0" bIns="0">
            <a:spAutoFit/>
          </a:bodyPr>
          <a:lstStyle/>
          <a:p>
            <a:pPr>
              <a:defRPr sz="2400" b="1">
                <a:solidFill>
                  <a:srgbClr val="0F172A"/>
                </a:solidFill>
              </a:defRPr>
            </a:pPr>
            <a:r>
              <a:t>Project Roadmap: Deliverables for Final Evaluation</a:t>
            </a:r>
          </a:p>
        </p:txBody>
      </p:sp>
      <p:sp>
        <p:nvSpPr>
          <p:cNvPr id="5" name="Rounded Rectangle 4"/>
          <p:cNvSpPr/>
          <p:nvPr/>
        </p:nvSpPr>
        <p:spPr>
          <a:xfrm>
            <a:off x="731520" y="1645920"/>
            <a:ext cx="106984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defRPr b="1" sz="1200">
                <a:solidFill>
                  <a:srgbClr val="065F46"/>
                </a:solidFill>
              </a:defRPr>
            </a:pPr>
            <a:r>
              <a:t>1. Socket.io WebSockets</a:t>
            </a:r>
          </a:p>
          <a:p>
            <a:pPr>
              <a:spcBef>
                <a:spcPts val="200"/>
              </a:spcBef>
              <a:defRPr sz="1000">
                <a:solidFill>
                  <a:srgbClr val="334155"/>
                </a:solidFill>
              </a:defRPr>
            </a:pPr>
            <a:r>
              <a:t>Transition from periodic polling to bidirectional push notifications. NGOs receive instant sound/push alerts the moment a restaurant lists surplus food within 5 km.</a:t>
            </a:r>
          </a:p>
        </p:txBody>
      </p:sp>
      <p:sp>
        <p:nvSpPr>
          <p:cNvPr id="6" name="Rounded Rectangle 5"/>
          <p:cNvSpPr/>
          <p:nvPr/>
        </p:nvSpPr>
        <p:spPr>
          <a:xfrm>
            <a:off x="731520" y="2788920"/>
            <a:ext cx="106984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defRPr b="1" sz="1200">
                <a:solidFill>
                  <a:srgbClr val="065F46"/>
                </a:solidFill>
              </a:defRPr>
            </a:pPr>
            <a:r>
              <a:t>2. PostGIS Spatial Indexing</a:t>
            </a:r>
          </a:p>
          <a:p>
            <a:pPr>
              <a:spcBef>
                <a:spcPts val="200"/>
              </a:spcBef>
              <a:defRPr sz="1000">
                <a:solidFill>
                  <a:srgbClr val="334155"/>
                </a:solidFill>
              </a:defRPr>
            </a:pPr>
            <a:r>
              <a:t>Enable PostgreSQL's PostGIS extension with R-Tree spatial indexes (`ST_DWithin`) to support national-scale databases with hundreds of thousands of concurrent locations.</a:t>
            </a:r>
          </a:p>
        </p:txBody>
      </p:sp>
      <p:sp>
        <p:nvSpPr>
          <p:cNvPr id="7" name="Rounded Rectangle 6"/>
          <p:cNvSpPr/>
          <p:nvPr/>
        </p:nvSpPr>
        <p:spPr>
          <a:xfrm>
            <a:off x="731520" y="3931920"/>
            <a:ext cx="106984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defRPr b="1" sz="1200">
                <a:solidFill>
                  <a:srgbClr val="065F46"/>
                </a:solidFill>
              </a:defRPr>
            </a:pPr>
            <a:r>
              <a:t>3. Progressive Web App (PWA)</a:t>
            </a:r>
          </a:p>
          <a:p>
            <a:pPr>
              <a:spcBef>
                <a:spcPts val="200"/>
              </a:spcBef>
              <a:defRPr sz="1000">
                <a:solidFill>
                  <a:srgbClr val="334155"/>
                </a:solidFill>
              </a:defRPr>
            </a:pPr>
            <a:r>
              <a:t>Add service workers and web app manifests so volunteers on two-wheelers can install ShareBite on Android/iOS with offline capability and GPS geofencing.</a:t>
            </a:r>
          </a:p>
        </p:txBody>
      </p:sp>
      <p:sp>
        <p:nvSpPr>
          <p:cNvPr id="8" name="Rounded Rectangle 7"/>
          <p:cNvSpPr/>
          <p:nvPr/>
        </p:nvSpPr>
        <p:spPr>
          <a:xfrm>
            <a:off x="731520" y="5074920"/>
            <a:ext cx="106984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defRPr b="1" sz="1200">
                <a:solidFill>
                  <a:srgbClr val="065F46"/>
                </a:solidFill>
              </a:defRPr>
            </a:pPr>
            <a:r>
              <a:t>4. IoT Cold-Chain Integration</a:t>
            </a:r>
          </a:p>
          <a:p>
            <a:pPr>
              <a:spcBef>
                <a:spcPts val="200"/>
              </a:spcBef>
              <a:defRPr sz="1000">
                <a:solidFill>
                  <a:srgbClr val="334155"/>
                </a:solidFill>
              </a:defRPr>
            </a:pPr>
            <a:r>
              <a:t>Prototype integration with BLE temperature probes to log whether perishable food remained below 4°C during transport, appending thermal logs to the Impact Certificate.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18320" cy="1828800"/>
          </a:xfrm>
          <a:prstGeom prst="rect">
            <a:avLst/>
          </a:prstGeom>
          <a:noFill/>
        </p:spPr>
        <p:txBody>
          <a:bodyPr wrap="square">
            <a:spAutoFit/>
          </a:bodyPr>
          <a:lstStyle/>
          <a:p>
            <a:pPr>
              <a:defRPr b="1" sz="3200">
                <a:solidFill>
                  <a:srgbClr val="FFFFFF"/>
                </a:solidFill>
              </a:defRPr>
            </a:pPr>
            <a:r>
              <a:t>ShareBite: Technical Excellence for Social Good</a:t>
            </a:r>
          </a:p>
          <a:p>
            <a:pPr>
              <a:spcBef>
                <a:spcPts val="1000"/>
              </a:spcBef>
              <a:defRPr sz="1600">
                <a:solidFill>
                  <a:srgbClr val="059669"/>
                </a:solidFill>
              </a:defRPr>
            </a:pPr>
            <a:r>
              <a:t>Engineered with React 19, Express 5, PostgreSQL, Leaflet, and OpenStreetMap Services.</a:t>
            </a:r>
          </a:p>
        </p:txBody>
      </p:sp>
      <p:sp>
        <p:nvSpPr>
          <p:cNvPr id="4" name="Rounded Rectangle 3"/>
          <p:cNvSpPr/>
          <p:nvPr/>
        </p:nvSpPr>
        <p:spPr>
          <a:xfrm>
            <a:off x="1371600" y="3474720"/>
            <a:ext cx="9418320"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365760" tIns="228600"/>
          <a:lstStyle/>
          <a:p>
            <a:pPr algn="ctr">
              <a:defRPr b="1" sz="1400">
                <a:solidFill>
                  <a:srgbClr val="FFFFFF"/>
                </a:solidFill>
              </a:defRPr>
            </a:pPr>
            <a:r>
              <a:t>Ready for Code Inspection &amp; Live Demonstration:</a:t>
            </a:r>
          </a:p>
          <a:p>
            <a:pPr>
              <a:spcBef>
                <a:spcPts val="400"/>
              </a:spcBef>
              <a:defRPr sz="1100">
                <a:solidFill>
                  <a:srgbClr val="F1F5F9"/>
                </a:solidFill>
              </a:defRPr>
            </a:pPr>
            <a:r>
              <a:t>• Complete SRS &amp; UML Use Case Diagrams strictly following IEEE Std 830-1998</a:t>
            </a:r>
          </a:p>
          <a:p>
            <a:pPr>
              <a:spcBef>
                <a:spcPts val="400"/>
              </a:spcBef>
              <a:defRPr sz="1100">
                <a:solidFill>
                  <a:srgbClr val="F1F5F9"/>
                </a:solidFill>
              </a:defRPr>
            </a:pPr>
            <a:r>
              <a:t>• Live end-to-end working system running on local environment (Port 5173 + 4000)</a:t>
            </a:r>
          </a:p>
          <a:p>
            <a:pPr>
              <a:spcBef>
                <a:spcPts val="400"/>
              </a:spcBef>
              <a:defRPr sz="1100">
                <a:solidFill>
                  <a:srgbClr val="F1F5F9"/>
                </a:solidFill>
              </a:defRPr>
            </a:pPr>
            <a:r>
              <a:t>• All edge cases verified: Concurrency locking, food safety cron sweeper, fallback caching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