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un kumar" userId="30806072cba22b42" providerId="LiveId" clId="{B2E6A2D0-D955-4F3E-A0CB-CC7530932F49}"/>
    <pc:docChg chg="undo custSel addSld delSld modSld">
      <pc:chgData name="varun kumar" userId="30806072cba22b42" providerId="LiveId" clId="{B2E6A2D0-D955-4F3E-A0CB-CC7530932F49}" dt="2026-09-28T17:33:20.447" v="93" actId="14100"/>
      <pc:docMkLst>
        <pc:docMk/>
      </pc:docMkLst>
      <pc:sldChg chg="delSp modSp mod">
        <pc:chgData name="varun kumar" userId="30806072cba22b42" providerId="LiveId" clId="{B2E6A2D0-D955-4F3E-A0CB-CC7530932F49}" dt="2026-09-28T17:30:58.721" v="27" actId="20578"/>
        <pc:sldMkLst>
          <pc:docMk/>
          <pc:sldMk cId="0" sldId="256"/>
        </pc:sldMkLst>
        <pc:spChg chg="del mod">
          <ac:chgData name="varun kumar" userId="30806072cba22b42" providerId="LiveId" clId="{B2E6A2D0-D955-4F3E-A0CB-CC7530932F49}" dt="2026-09-28T17:30:38.789" v="26" actId="21"/>
          <ac:spMkLst>
            <pc:docMk/>
            <pc:sldMk cId="0" sldId="256"/>
            <ac:spMk id="3" creationId="{00000000-0000-0000-0000-000000000000}"/>
          </ac:spMkLst>
        </pc:spChg>
        <pc:spChg chg="mod">
          <ac:chgData name="varun kumar" userId="30806072cba22b42" providerId="LiveId" clId="{B2E6A2D0-D955-4F3E-A0CB-CC7530932F49}" dt="2026-09-28T17:30:58.721" v="27" actId="20578"/>
          <ac:spMkLst>
            <pc:docMk/>
            <pc:sldMk cId="0" sldId="256"/>
            <ac:spMk id="5" creationId="{00000000-0000-0000-0000-000000000000}"/>
          </ac:spMkLst>
        </pc:spChg>
      </pc:sldChg>
      <pc:sldChg chg="modSp mod">
        <pc:chgData name="varun kumar" userId="30806072cba22b42" providerId="LiveId" clId="{B2E6A2D0-D955-4F3E-A0CB-CC7530932F49}" dt="2026-09-28T17:33:20.447" v="93" actId="14100"/>
        <pc:sldMkLst>
          <pc:docMk/>
          <pc:sldMk cId="0" sldId="257"/>
        </pc:sldMkLst>
        <pc:spChg chg="mod">
          <ac:chgData name="varun kumar" userId="30806072cba22b42" providerId="LiveId" clId="{B2E6A2D0-D955-4F3E-A0CB-CC7530932F49}" dt="2026-09-28T17:31:32.591" v="35" actId="20577"/>
          <ac:spMkLst>
            <pc:docMk/>
            <pc:sldMk cId="0" sldId="257"/>
            <ac:spMk id="3" creationId="{00000000-0000-0000-0000-000000000000}"/>
          </ac:spMkLst>
        </pc:spChg>
        <pc:spChg chg="mod">
          <ac:chgData name="varun kumar" userId="30806072cba22b42" providerId="LiveId" clId="{B2E6A2D0-D955-4F3E-A0CB-CC7530932F49}" dt="2026-09-28T17:33:20.447" v="93" actId="14100"/>
          <ac:spMkLst>
            <pc:docMk/>
            <pc:sldMk cId="0" sldId="257"/>
            <ac:spMk id="5" creationId="{00000000-0000-0000-0000-000000000000}"/>
          </ac:spMkLst>
        </pc:spChg>
      </pc:sldChg>
      <pc:sldChg chg="modSp mod">
        <pc:chgData name="varun kumar" userId="30806072cba22b42" providerId="LiveId" clId="{B2E6A2D0-D955-4F3E-A0CB-CC7530932F49}" dt="2026-09-28T17:31:47.142" v="44" actId="20577"/>
        <pc:sldMkLst>
          <pc:docMk/>
          <pc:sldMk cId="0" sldId="258"/>
        </pc:sldMkLst>
        <pc:spChg chg="mod">
          <ac:chgData name="varun kumar" userId="30806072cba22b42" providerId="LiveId" clId="{B2E6A2D0-D955-4F3E-A0CB-CC7530932F49}" dt="2026-09-28T17:31:47.142" v="44" actId="20577"/>
          <ac:spMkLst>
            <pc:docMk/>
            <pc:sldMk cId="0" sldId="258"/>
            <ac:spMk id="3" creationId="{00000000-0000-0000-0000-000000000000}"/>
          </ac:spMkLst>
        </pc:spChg>
      </pc:sldChg>
      <pc:sldChg chg="modSp mod">
        <pc:chgData name="varun kumar" userId="30806072cba22b42" providerId="LiveId" clId="{B2E6A2D0-D955-4F3E-A0CB-CC7530932F49}" dt="2026-09-28T17:31:54.710" v="53" actId="20577"/>
        <pc:sldMkLst>
          <pc:docMk/>
          <pc:sldMk cId="0" sldId="259"/>
        </pc:sldMkLst>
        <pc:spChg chg="mod">
          <ac:chgData name="varun kumar" userId="30806072cba22b42" providerId="LiveId" clId="{B2E6A2D0-D955-4F3E-A0CB-CC7530932F49}" dt="2026-09-28T17:31:54.710" v="53" actId="20577"/>
          <ac:spMkLst>
            <pc:docMk/>
            <pc:sldMk cId="0" sldId="259"/>
            <ac:spMk id="3" creationId="{00000000-0000-0000-0000-000000000000}"/>
          </ac:spMkLst>
        </pc:spChg>
      </pc:sldChg>
      <pc:sldChg chg="modSp mod">
        <pc:chgData name="varun kumar" userId="30806072cba22b42" providerId="LiveId" clId="{B2E6A2D0-D955-4F3E-A0CB-CC7530932F49}" dt="2026-09-28T17:32:01.791" v="64" actId="20577"/>
        <pc:sldMkLst>
          <pc:docMk/>
          <pc:sldMk cId="0" sldId="260"/>
        </pc:sldMkLst>
        <pc:spChg chg="mod">
          <ac:chgData name="varun kumar" userId="30806072cba22b42" providerId="LiveId" clId="{B2E6A2D0-D955-4F3E-A0CB-CC7530932F49}" dt="2026-09-28T17:32:01.791" v="64" actId="20577"/>
          <ac:spMkLst>
            <pc:docMk/>
            <pc:sldMk cId="0" sldId="260"/>
            <ac:spMk id="3" creationId="{00000000-0000-0000-0000-000000000000}"/>
          </ac:spMkLst>
        </pc:spChg>
      </pc:sldChg>
      <pc:sldChg chg="modSp add del mod">
        <pc:chgData name="varun kumar" userId="30806072cba22b42" providerId="LiveId" clId="{B2E6A2D0-D955-4F3E-A0CB-CC7530932F49}" dt="2026-09-28T17:32:17.272" v="75" actId="20577"/>
        <pc:sldMkLst>
          <pc:docMk/>
          <pc:sldMk cId="0" sldId="261"/>
        </pc:sldMkLst>
        <pc:spChg chg="mod">
          <ac:chgData name="varun kumar" userId="30806072cba22b42" providerId="LiveId" clId="{B2E6A2D0-D955-4F3E-A0CB-CC7530932F49}" dt="2026-09-28T17:32:17.272" v="75" actId="20577"/>
          <ac:spMkLst>
            <pc:docMk/>
            <pc:sldMk cId="0" sldId="261"/>
            <ac:spMk id="3" creationId="{00000000-0000-0000-0000-000000000000}"/>
          </ac:spMkLst>
        </pc:spChg>
      </pc:sldChg>
      <pc:sldChg chg="modSp mod">
        <pc:chgData name="varun kumar" userId="30806072cba22b42" providerId="LiveId" clId="{B2E6A2D0-D955-4F3E-A0CB-CC7530932F49}" dt="2026-09-28T17:32:30.024" v="86" actId="20577"/>
        <pc:sldMkLst>
          <pc:docMk/>
          <pc:sldMk cId="0" sldId="262"/>
        </pc:sldMkLst>
        <pc:spChg chg="mod">
          <ac:chgData name="varun kumar" userId="30806072cba22b42" providerId="LiveId" clId="{B2E6A2D0-D955-4F3E-A0CB-CC7530932F49}" dt="2026-09-28T17:32:30.024" v="86" actId="20577"/>
          <ac:spMkLst>
            <pc:docMk/>
            <pc:sldMk cId="0" sldId="262"/>
            <ac:spMk id="3" creationId="{00000000-0000-0000-0000-000000000000}"/>
          </ac:spMkLst>
        </pc:spChg>
      </pc:sldChg>
      <pc:sldChg chg="modSp mod">
        <pc:chgData name="varun kumar" userId="30806072cba22b42" providerId="LiveId" clId="{B2E6A2D0-D955-4F3E-A0CB-CC7530932F49}" dt="2026-09-28T17:32:47.164" v="90" actId="20577"/>
        <pc:sldMkLst>
          <pc:docMk/>
          <pc:sldMk cId="0" sldId="263"/>
        </pc:sldMkLst>
        <pc:spChg chg="mod">
          <ac:chgData name="varun kumar" userId="30806072cba22b42" providerId="LiveId" clId="{B2E6A2D0-D955-4F3E-A0CB-CC7530932F49}" dt="2026-09-28T17:29:59.510" v="1" actId="1076"/>
          <ac:spMkLst>
            <pc:docMk/>
            <pc:sldMk cId="0" sldId="263"/>
            <ac:spMk id="3" creationId="{00000000-0000-0000-0000-000000000000}"/>
          </ac:spMkLst>
        </pc:spChg>
        <pc:spChg chg="mod">
          <ac:chgData name="varun kumar" userId="30806072cba22b42" providerId="LiveId" clId="{B2E6A2D0-D955-4F3E-A0CB-CC7530932F49}" dt="2026-09-28T17:32:47.164" v="90"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295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respected teachers and classmates.</a:t>
            </a:r>
          </a:p>
          <a:p>
            <a:endParaRPr/>
          </a:p>
          <a:p>
            <a:r>
              <a:t>I am Varun, and along with my project partner Neha, we are presenting our mid-term project review on 'ShareBite'.</a:t>
            </a:r>
          </a:p>
          <a:p>
            <a:endParaRPr/>
          </a:p>
          <a:p>
            <a:r>
              <a:t>In our first presentation, we introduced the basic idea. Today, we will show you how our application actually works, the key actors involved, our system architecture, and the core code logic that powers food safety and fraud prevention.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problem we are tackling. Every single evening, we see a tragic contradiction:</a:t>
            </a:r>
          </a:p>
          <a:p>
            <a:endParaRPr/>
          </a:p>
          <a:p>
            <a:r>
              <a:t>On one hand, banquet halls and restaurants throw away large amounts of fresh, untouched food. On the other hand, just two kilometers away, families and children sleep hungry.</a:t>
            </a:r>
          </a:p>
          <a:p>
            <a:endParaRPr/>
          </a:p>
          <a:p>
            <a:r>
              <a:t>Why does this happen? Because cooked food has a strict shelf-life of 3 to 5 hours. Calling 10 different NGOs by phone is impractical. By the time someone answers, the food is cold or spoiled. There is no real-time platform to connect the restaurant with an available volunteer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ShareBite solves the problem in 5 easy steps:</a:t>
            </a:r>
          </a:p>
          <a:p>
            <a:endParaRPr/>
          </a:p>
          <a:p>
            <a:r>
              <a:t>1. The donor posts surplus food in 30 seconds using their phone's GPS.</a:t>
            </a:r>
          </a:p>
          <a:p>
            <a:r>
              <a:t>2. The nearest NGOs see it instantly on a live radar map within a 5 to 15 km radius.</a:t>
            </a:r>
          </a:p>
          <a:p>
            <a:r>
              <a:t>3. An NGO claims it, locking the batch and receiving a unique 6-digit OTP.</a:t>
            </a:r>
          </a:p>
          <a:p>
            <a:r>
              <a:t>4. The volunteer clicks 'Get Directions' to get the fastest driving route to the restaurant.</a:t>
            </a:r>
          </a:p>
          <a:p>
            <a:r>
              <a:t>5. The volunteer shares the OTP with the donor to collect the food safely.</a:t>
            </a:r>
          </a:p>
          <a:p>
            <a:endParaRPr/>
          </a:p>
          <a:p>
            <a:r>
              <a:t>Everything happens fast, transparently, and securely before the food gets cold.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has three distinct actors, each with a dedicated dashboard:</a:t>
            </a:r>
          </a:p>
          <a:p>
            <a:endParaRPr/>
          </a:p>
          <a:p>
            <a:r>
              <a:t>1. The Food Donor: This is the restaurant manager who posts food and validates the OTP upon collection.</a:t>
            </a:r>
          </a:p>
          <a:p>
            <a:r>
              <a:t>2. The Claimer / NGO: The charity or volunteer who searches the map, claims food, gets directions, and delivers it to people in need.</a:t>
            </a:r>
          </a:p>
          <a:p>
            <a:r>
              <a:t>3. The Admin: The supervisor who verifies partner licenses, monitors system statistics, and keeps the platform safe from fake accounts.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Teachers often ask: 'What are the main algorithms or code logic you wrote?' Here are our 4 main modules:</a:t>
            </a:r>
          </a:p>
          <a:p>
            <a:endParaRPr/>
          </a:p>
          <a:p>
            <a:r>
              <a:t>1. Node-Cron Sweeper: A background timer runs every 60 seconds. If a food batch passes its expiry time, the SQL query automatically sets its status to 'expired', so nobody eats spoiled food.</a:t>
            </a:r>
          </a:p>
          <a:p>
            <a:endParaRPr/>
          </a:p>
          <a:p>
            <a:r>
              <a:t>2. OTP Verification: When an NGO claims food, we generate a random 6-digit PIN. The donor checks this PIN before handing over the packages, preventing theft.</a:t>
            </a:r>
          </a:p>
          <a:p>
            <a:endParaRPr/>
          </a:p>
          <a:p>
            <a:r>
              <a:t>3. Haversine Distance: We calculate spherical distance in kilometers between two GPS points using Earth's radius of 6371 km.</a:t>
            </a:r>
          </a:p>
          <a:p>
            <a:endParaRPr/>
          </a:p>
          <a:p>
            <a:r>
              <a:t>4. OpenStreetMap Overpass API: We query live community kitchens and NGOs within 15 km without paying expensive Google Maps fees.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architecture of how everything fits together:</a:t>
            </a:r>
          </a:p>
          <a:p>
            <a:endParaRPr/>
          </a:p>
          <a:p>
            <a:r>
              <a:t>- On the front, we have React 19 and Leaflet. The volunteer or donor interacts with a clean dashboard and map.</a:t>
            </a:r>
          </a:p>
          <a:p>
            <a:r>
              <a:t>- The frontend makes REST API calls to our Node.js and Express 5 backend.</a:t>
            </a:r>
          </a:p>
          <a:p>
            <a:r>
              <a:t>- The backend checks security via JWT tokens, runs our cron job, and talks to PostgreSQL.</a:t>
            </a:r>
          </a:p>
          <a:p>
            <a:r>
              <a:t>- If PostgreSQL is not installed or offline, our smart zero-config fallback takes over so our application is 100% reliable.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our final semester review, we have planned four exciting enhancements:</a:t>
            </a:r>
          </a:p>
          <a:p>
            <a:endParaRPr/>
          </a:p>
          <a:p>
            <a:r>
              <a:t>1. WebSockets with Socket.io: For instant sound and push notifications to volunteers when food is listed.</a:t>
            </a:r>
          </a:p>
          <a:p>
            <a:r>
              <a:t>2. A Mobile App / PWA: Making it easy for volunteers riding bikes to navigate.</a:t>
            </a:r>
          </a:p>
          <a:p>
            <a:r>
              <a:t>3. IoT Temperature Probes: To prove the food stayed fresh and cold or hot in transit.</a:t>
            </a:r>
          </a:p>
          <a:p>
            <a:r>
              <a:t>4. AI Predictive Analytics: To help restaurants forecast how much surplus they will have based on past days.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ShareBite is our effort to use modern web technology for a meaningful social impact. Our core platform is fully working, safe, and ready for demo. Thank you respected teachers. Varun and I are now open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645920"/>
            <a:ext cx="10058400" cy="1828800"/>
          </a:xfrm>
          <a:prstGeom prst="rect">
            <a:avLst/>
          </a:prstGeom>
          <a:noFill/>
        </p:spPr>
        <p:txBody>
          <a:bodyPr wrap="square">
            <a:spAutoFit/>
          </a:bodyPr>
          <a:lstStyle/>
          <a:p>
            <a:pPr>
              <a:defRPr sz="4400" b="1">
                <a:solidFill>
                  <a:srgbClr val="FFFFFF"/>
                </a:solidFill>
              </a:defRPr>
            </a:pPr>
            <a:r>
              <a:t>ShareBite</a:t>
            </a:r>
          </a:p>
          <a:p>
            <a:pPr>
              <a:spcBef>
                <a:spcPts val="600"/>
              </a:spcBef>
              <a:defRPr sz="2000">
                <a:solidFill>
                  <a:srgbClr val="059669"/>
                </a:solidFill>
              </a:defRPr>
            </a:pPr>
            <a:r>
              <a:t>Smart Surplus Food Recovery &amp; NGO Redistribution Platform</a:t>
            </a:r>
          </a:p>
        </p:txBody>
      </p:sp>
      <p:sp>
        <p:nvSpPr>
          <p:cNvPr id="5" name="Rounded Rectangle 4"/>
          <p:cNvSpPr/>
          <p:nvPr/>
        </p:nvSpPr>
        <p:spPr>
          <a:xfrm>
            <a:off x="1097280" y="3931920"/>
            <a:ext cx="996696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lIns="365760" tIns="274320" rtlCol="0" anchor="ctr"/>
          <a:lstStyle/>
          <a:p>
            <a:pPr algn="ctr">
              <a:defRPr sz="1500" b="1">
                <a:solidFill>
                  <a:srgbClr val="059669"/>
                </a:solidFill>
              </a:defRPr>
            </a:pPr>
            <a:r>
              <a:rPr dirty="0"/>
              <a:t>👥 Project Team:</a:t>
            </a:r>
          </a:p>
          <a:p>
            <a:pPr>
              <a:spcBef>
                <a:spcPts val="600"/>
              </a:spcBef>
            </a:pPr>
            <a:r>
              <a:rPr sz="1400" dirty="0">
                <a:solidFill>
                  <a:srgbClr val="F1F5F9"/>
                </a:solidFill>
              </a:rPr>
              <a:t>Presented by: </a:t>
            </a:r>
            <a:r>
              <a:rPr sz="1600" b="1" dirty="0">
                <a:solidFill>
                  <a:srgbClr val="FFFFFF"/>
                </a:solidFill>
              </a:rPr>
              <a:t>Varun  &amp;  Neha</a:t>
            </a:r>
          </a:p>
          <a:p>
            <a:pPr>
              <a:spcBef>
                <a:spcPts val="1000"/>
              </a:spcBef>
              <a:defRPr sz="1200">
                <a:solidFill>
                  <a:srgbClr val="F1F5F9"/>
                </a:solidFill>
              </a:defRPr>
            </a:pPr>
            <a:r>
              <a:rPr dirty="0"/>
              <a:t>A full-stack web application designed to connect restaurants, bakeries, and caterers with nearby NGOs and volunteers in real time to prevent food wastage and feed people in need.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  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The Real-World Problem: The Hunger vs Food Waste Paradox</a:t>
            </a:r>
          </a:p>
        </p:txBody>
      </p:sp>
      <p:sp>
        <p:nvSpPr>
          <p:cNvPr id="5" name="Rounded Rectangle 4"/>
          <p:cNvSpPr/>
          <p:nvPr/>
        </p:nvSpPr>
        <p:spPr>
          <a:xfrm>
            <a:off x="731520" y="1645920"/>
            <a:ext cx="3383280" cy="4663440"/>
          </a:xfrm>
          <a:prstGeom prst="roundRect">
            <a:avLst>
              <a:gd name="adj" fmla="val 14133"/>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DC2626"/>
                </a:solidFill>
              </a:defRPr>
            </a:pPr>
            <a:r>
              <a:t>Huge Food Wastage</a:t>
            </a:r>
          </a:p>
          <a:p>
            <a:pPr>
              <a:spcBef>
                <a:spcPts val="400"/>
              </a:spcBef>
              <a:defRPr sz="1100" b="1">
                <a:solidFill>
                  <a:srgbClr val="0F172A"/>
                </a:solidFill>
              </a:defRPr>
            </a:pPr>
            <a:r>
              <a:t>🗑️ 40% of Prepared Food is Wasted</a:t>
            </a:r>
          </a:p>
          <a:p>
            <a:pPr>
              <a:spcBef>
                <a:spcPts val="800"/>
              </a:spcBef>
              <a:defRPr sz="1050">
                <a:solidFill>
                  <a:srgbClr val="334155"/>
                </a:solidFill>
              </a:defRPr>
            </a:pPr>
            <a:r>
              <a:t>• Restaurants, banquet halls, weddings, and bakeries prepare food in bulk daily.</a:t>
            </a:r>
          </a:p>
          <a:p>
            <a:pPr>
              <a:spcBef>
                <a:spcPts val="800"/>
              </a:spcBef>
              <a:defRPr sz="1050">
                <a:solidFill>
                  <a:srgbClr val="334155"/>
                </a:solidFill>
              </a:defRPr>
            </a:pPr>
            <a:r>
              <a:t>• At the end of every night, delicious, perfectly safe surplus food is thrown into dustbins and landfills.</a:t>
            </a:r>
          </a:p>
          <a:p>
            <a:pPr>
              <a:spcBef>
                <a:spcPts val="800"/>
              </a:spcBef>
              <a:defRPr sz="1050">
                <a:solidFill>
                  <a:srgbClr val="334155"/>
                </a:solidFill>
              </a:defRPr>
            </a:pPr>
            <a:r>
              <a:t>• In India alone, thousands of tons of edible food get discarded every single day.</a:t>
            </a:r>
          </a:p>
        </p:txBody>
      </p:sp>
      <p:sp>
        <p:nvSpPr>
          <p:cNvPr id="6" name="Rounded Rectangle 5"/>
          <p:cNvSpPr/>
          <p:nvPr/>
        </p:nvSpPr>
        <p:spPr>
          <a:xfrm>
            <a:off x="429768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D97706"/>
                </a:solidFill>
              </a:defRPr>
            </a:pPr>
            <a:r>
              <a:t>Millions Sleep Hungry</a:t>
            </a:r>
          </a:p>
          <a:p>
            <a:pPr>
              <a:spcBef>
                <a:spcPts val="400"/>
              </a:spcBef>
              <a:defRPr sz="1100" b="1">
                <a:solidFill>
                  <a:srgbClr val="0F172A"/>
                </a:solidFill>
              </a:defRPr>
            </a:pPr>
            <a:r>
              <a:t>🍲 Widespread Food Insecurity</a:t>
            </a:r>
          </a:p>
          <a:p>
            <a:pPr>
              <a:spcBef>
                <a:spcPts val="800"/>
              </a:spcBef>
              <a:defRPr sz="1050">
                <a:solidFill>
                  <a:srgbClr val="334155"/>
                </a:solidFill>
              </a:defRPr>
            </a:pPr>
            <a:r>
              <a:t>• Just a few kilometers away from these restaurants, homeless people, children, and daily wage workers sleep on empty stomachs.</a:t>
            </a:r>
          </a:p>
          <a:p>
            <a:pPr>
              <a:spcBef>
                <a:spcPts val="800"/>
              </a:spcBef>
              <a:defRPr sz="1050">
                <a:solidFill>
                  <a:srgbClr val="334155"/>
                </a:solidFill>
              </a:defRPr>
            </a:pPr>
            <a:r>
              <a:t>• Local shelter homes, orphanages, and soup kitchens are constantly struggling with food shortages and tight budgets.</a:t>
            </a:r>
          </a:p>
        </p:txBody>
      </p:sp>
      <p:sp>
        <p:nvSpPr>
          <p:cNvPr id="7" name="Rounded Rectangle 6"/>
          <p:cNvSpPr/>
          <p:nvPr/>
        </p:nvSpPr>
        <p:spPr>
          <a:xfrm>
            <a:off x="786384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2563EB"/>
                </a:solidFill>
              </a:defRPr>
            </a:pPr>
            <a:r>
              <a:t>The Missing Bridge</a:t>
            </a:r>
          </a:p>
          <a:p>
            <a:pPr>
              <a:spcBef>
                <a:spcPts val="400"/>
              </a:spcBef>
              <a:defRPr sz="1100" b="1">
                <a:solidFill>
                  <a:srgbClr val="0F172A"/>
                </a:solidFill>
              </a:defRPr>
            </a:pPr>
            <a:r>
              <a:t>⏰ Why Hasn't This Been Solved?</a:t>
            </a:r>
          </a:p>
          <a:p>
            <a:pPr>
              <a:spcBef>
                <a:spcPts val="800"/>
              </a:spcBef>
              <a:defRPr sz="1050">
                <a:solidFill>
                  <a:srgbClr val="334155"/>
                </a:solidFill>
              </a:defRPr>
            </a:pPr>
            <a:r>
              <a:t>• Perishability Clock: Cooked food spoils in 3 to 5 hours. Phone calls take too long.</a:t>
            </a:r>
          </a:p>
          <a:p>
            <a:pPr>
              <a:spcBef>
                <a:spcPts val="800"/>
              </a:spcBef>
              <a:defRPr sz="1050">
                <a:solidFill>
                  <a:srgbClr val="334155"/>
                </a:solidFill>
              </a:defRPr>
            </a:pPr>
            <a:r>
              <a:t>• Zero Visibility: Donors don't know which NGO is nearby and has volunteers free.</a:t>
            </a:r>
          </a:p>
          <a:p>
            <a:pPr>
              <a:spcBef>
                <a:spcPts val="800"/>
              </a:spcBef>
              <a:defRPr sz="1050">
                <a:solidFill>
                  <a:srgbClr val="334155"/>
                </a:solidFill>
              </a:defRPr>
            </a:pPr>
            <a:r>
              <a:t>• Lack of Trust &amp; Verification: Donors fear food safety issues and unauthorized people taking food.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 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The Solution: Real-Time Proximity Food Recovery Platform</a:t>
            </a:r>
          </a:p>
        </p:txBody>
      </p:sp>
      <p:sp>
        <p:nvSpPr>
          <p:cNvPr id="5" name="Rounded Rectangle 4"/>
          <p:cNvSpPr/>
          <p:nvPr/>
        </p:nvSpPr>
        <p:spPr>
          <a:xfrm>
            <a:off x="731520" y="155448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09728" rtlCol="0" anchor="ctr"/>
          <a:lstStyle/>
          <a:p>
            <a:pPr algn="ctr"/>
            <a:r>
              <a:rPr sz="1100" b="1">
                <a:solidFill>
                  <a:srgbClr val="065F46"/>
                </a:solidFill>
              </a:rPr>
              <a:t>[👨‍🍳 DONOR] </a:t>
            </a:r>
            <a:r>
              <a:rPr sz="1200" b="1">
                <a:solidFill>
                  <a:srgbClr val="0F172A"/>
                </a:solidFill>
              </a:rPr>
              <a:t>Step 1: 30-Second Food Posting</a:t>
            </a:r>
          </a:p>
          <a:p>
            <a:pPr>
              <a:spcBef>
                <a:spcPts val="200"/>
              </a:spcBef>
              <a:defRPr sz="1000">
                <a:solidFill>
                  <a:srgbClr val="334155"/>
                </a:solidFill>
              </a:defRPr>
            </a:pPr>
            <a:r>
              <a:t>A restaurant has 30 leftover meals. With 1 click on 'Use GPS', their location is detected. They select 'Veg', set 3 hours shelf-life, and click post.</a:t>
            </a:r>
          </a:p>
        </p:txBody>
      </p:sp>
      <p:sp>
        <p:nvSpPr>
          <p:cNvPr id="6" name="Rounded Rectangle 5"/>
          <p:cNvSpPr/>
          <p:nvPr/>
        </p:nvSpPr>
        <p:spPr>
          <a:xfrm>
            <a:off x="731520" y="25146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09728" rtlCol="0" anchor="ctr"/>
          <a:lstStyle/>
          <a:p>
            <a:pPr algn="ctr"/>
            <a:r>
              <a:rPr sz="1100" b="1">
                <a:solidFill>
                  <a:srgbClr val="065F46"/>
                </a:solidFill>
              </a:rPr>
              <a:t>[🗺️ LIVE MAP] </a:t>
            </a:r>
            <a:r>
              <a:rPr sz="1200" b="1">
                <a:solidFill>
                  <a:srgbClr val="0F172A"/>
                </a:solidFill>
              </a:rPr>
              <a:t>Step 2: Instant Radar Discovery</a:t>
            </a:r>
          </a:p>
          <a:p>
            <a:pPr>
              <a:spcBef>
                <a:spcPts val="200"/>
              </a:spcBef>
              <a:defRPr sz="1000">
                <a:solidFill>
                  <a:srgbClr val="334155"/>
                </a:solidFill>
              </a:defRPr>
            </a:pPr>
            <a:r>
              <a:t>Nearby NGOs and volunteers immediately see the food pop up on their interactive map with distance, quantity, and a live freshness countdown timer.</a:t>
            </a:r>
          </a:p>
        </p:txBody>
      </p:sp>
      <p:sp>
        <p:nvSpPr>
          <p:cNvPr id="7" name="Rounded Rectangle 6"/>
          <p:cNvSpPr/>
          <p:nvPr/>
        </p:nvSpPr>
        <p:spPr>
          <a:xfrm>
            <a:off x="731520" y="347472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09728" rtlCol="0" anchor="ctr"/>
          <a:lstStyle/>
          <a:p>
            <a:pPr algn="ctr"/>
            <a:r>
              <a:rPr sz="1100" b="1">
                <a:solidFill>
                  <a:srgbClr val="065F46"/>
                </a:solidFill>
              </a:rPr>
              <a:t>[🔒 CLAIM &amp; OTP] </a:t>
            </a:r>
            <a:r>
              <a:rPr sz="1200" b="1">
                <a:solidFill>
                  <a:srgbClr val="0F172A"/>
                </a:solidFill>
              </a:rPr>
              <a:t>Step 3: 1-Click Batch Reservation</a:t>
            </a:r>
          </a:p>
          <a:p>
            <a:pPr>
              <a:spcBef>
                <a:spcPts val="200"/>
              </a:spcBef>
              <a:defRPr sz="1000">
                <a:solidFill>
                  <a:srgbClr val="334155"/>
                </a:solidFill>
              </a:defRPr>
            </a:pPr>
            <a:r>
              <a:t>The NGO clicks 'Claim Food'. The food is instantly reserved for them, and the system issues a secure 6-digit OTP code to the volunteer.</a:t>
            </a:r>
          </a:p>
        </p:txBody>
      </p:sp>
      <p:sp>
        <p:nvSpPr>
          <p:cNvPr id="8" name="Rounded Rectangle 7"/>
          <p:cNvSpPr/>
          <p:nvPr/>
        </p:nvSpPr>
        <p:spPr>
          <a:xfrm>
            <a:off x="731520" y="443484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09728" rtlCol="0" anchor="ctr"/>
          <a:lstStyle/>
          <a:p>
            <a:pPr algn="ctr"/>
            <a:r>
              <a:rPr sz="1100" b="1">
                <a:solidFill>
                  <a:srgbClr val="065F46"/>
                </a:solidFill>
              </a:rPr>
              <a:t>[🚗 ROUTE &amp; ETA] </a:t>
            </a:r>
            <a:r>
              <a:rPr sz="1200" b="1">
                <a:solidFill>
                  <a:srgbClr val="0F172A"/>
                </a:solidFill>
              </a:rPr>
              <a:t>Step 4: Turn-by-Turn Navigation</a:t>
            </a:r>
          </a:p>
          <a:p>
            <a:pPr>
              <a:spcBef>
                <a:spcPts val="200"/>
              </a:spcBef>
              <a:defRPr sz="1000">
                <a:solidFill>
                  <a:srgbClr val="334155"/>
                </a:solidFill>
              </a:defRPr>
            </a:pPr>
            <a:r>
              <a:t>The volunteer gets the exact driving route directly to the restaurant kitchen on the map so they don't waste time looking for addresses.</a:t>
            </a:r>
          </a:p>
        </p:txBody>
      </p:sp>
      <p:sp>
        <p:nvSpPr>
          <p:cNvPr id="9" name="Rounded Rectangle 8"/>
          <p:cNvSpPr/>
          <p:nvPr/>
        </p:nvSpPr>
        <p:spPr>
          <a:xfrm>
            <a:off x="731520" y="539496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09728" rtlCol="0" anchor="ctr"/>
          <a:lstStyle/>
          <a:p>
            <a:pPr algn="ctr"/>
            <a:r>
              <a:rPr sz="1100" b="1">
                <a:solidFill>
                  <a:srgbClr val="065F46"/>
                </a:solidFill>
              </a:rPr>
              <a:t>[✅ VERIFICATION] </a:t>
            </a:r>
            <a:r>
              <a:rPr sz="1200" b="1">
                <a:solidFill>
                  <a:srgbClr val="0F172A"/>
                </a:solidFill>
              </a:rPr>
              <a:t>Step 5: Verified OTP Handover</a:t>
            </a:r>
          </a:p>
          <a:p>
            <a:pPr>
              <a:spcBef>
                <a:spcPts val="200"/>
              </a:spcBef>
              <a:defRPr sz="1000">
                <a:solidFill>
                  <a:srgbClr val="334155"/>
                </a:solidFill>
              </a:defRPr>
            </a:pPr>
            <a:r>
              <a:t>At the restaurant, the volunteer shares the 6-digit OTP. The donor enters it, confirms handover, and a verified Impact Certificate is generated.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 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System Roles: The 3 Key Actors in ShareBite</a:t>
            </a:r>
          </a:p>
        </p:txBody>
      </p:sp>
      <p:sp>
        <p:nvSpPr>
          <p:cNvPr id="5" name="Rounded Rectangle 4"/>
          <p:cNvSpPr/>
          <p:nvPr/>
        </p:nvSpPr>
        <p:spPr>
          <a:xfrm>
            <a:off x="73152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065F46"/>
                </a:solidFill>
              </a:defRPr>
            </a:pPr>
            <a:r>
              <a:t>1. Food Donor</a:t>
            </a:r>
          </a:p>
          <a:p>
            <a:pPr>
              <a:spcBef>
                <a:spcPts val="400"/>
              </a:spcBef>
              <a:defRPr sz="1050" b="1">
                <a:solidFill>
                  <a:srgbClr val="0F172A"/>
                </a:solidFill>
              </a:defRPr>
            </a:pPr>
            <a:r>
              <a:t>Restaurants, Caterers, Bakeries, Banquet Halls</a:t>
            </a:r>
          </a:p>
          <a:p>
            <a:pPr>
              <a:spcBef>
                <a:spcPts val="800"/>
              </a:spcBef>
              <a:defRPr sz="1000">
                <a:solidFill>
                  <a:srgbClr val="334155"/>
                </a:solidFill>
              </a:defRPr>
            </a:pPr>
            <a:r>
              <a:t>• Posts surplus food listings in under 30 seconds.</a:t>
            </a:r>
          </a:p>
          <a:p>
            <a:pPr>
              <a:spcBef>
                <a:spcPts val="800"/>
              </a:spcBef>
              <a:defRPr sz="1000">
                <a:solidFill>
                  <a:srgbClr val="334155"/>
                </a:solidFill>
              </a:defRPr>
            </a:pPr>
            <a:r>
              <a:t>• Sets quantity (servings/kg), category (Veg/Non-Veg), and safe-by expiry time.</a:t>
            </a:r>
          </a:p>
          <a:p>
            <a:pPr>
              <a:spcBef>
                <a:spcPts val="800"/>
              </a:spcBef>
              <a:defRPr sz="1000">
                <a:solidFill>
                  <a:srgbClr val="334155"/>
                </a:solidFill>
              </a:defRPr>
            </a:pPr>
            <a:r>
              <a:t>• Auto-fills location using browser HTML5 GPS.</a:t>
            </a:r>
          </a:p>
          <a:p>
            <a:pPr>
              <a:spcBef>
                <a:spcPts val="800"/>
              </a:spcBef>
              <a:defRPr sz="1000">
                <a:solidFill>
                  <a:srgbClr val="334155"/>
                </a:solidFill>
              </a:defRPr>
            </a:pPr>
            <a:r>
              <a:t>• Checks the volunteer's 6-digit OTP to verify pickup.</a:t>
            </a:r>
          </a:p>
          <a:p>
            <a:pPr>
              <a:spcBef>
                <a:spcPts val="800"/>
              </a:spcBef>
              <a:defRPr sz="1000">
                <a:solidFill>
                  <a:srgbClr val="334155"/>
                </a:solidFill>
              </a:defRPr>
            </a:pPr>
            <a:r>
              <a:t>• Views and prints official CSR Impact Certificates (meals saved, kg diverted).</a:t>
            </a:r>
          </a:p>
        </p:txBody>
      </p:sp>
      <p:sp>
        <p:nvSpPr>
          <p:cNvPr id="6" name="Rounded Rectangle 5"/>
          <p:cNvSpPr/>
          <p:nvPr/>
        </p:nvSpPr>
        <p:spPr>
          <a:xfrm>
            <a:off x="429768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2563EB"/>
                </a:solidFill>
              </a:defRPr>
            </a:pPr>
            <a:r>
              <a:t>2. Claimer / Volunteer</a:t>
            </a:r>
          </a:p>
          <a:p>
            <a:pPr>
              <a:spcBef>
                <a:spcPts val="400"/>
              </a:spcBef>
              <a:defRPr sz="1050" b="1">
                <a:solidFill>
                  <a:srgbClr val="0F172A"/>
                </a:solidFill>
              </a:defRPr>
            </a:pPr>
            <a:r>
              <a:t>NGOs, Food Banks, Charities, Shelter Homes</a:t>
            </a:r>
          </a:p>
          <a:p>
            <a:pPr>
              <a:spcBef>
                <a:spcPts val="800"/>
              </a:spcBef>
              <a:defRPr sz="1000">
                <a:solidFill>
                  <a:srgbClr val="334155"/>
                </a:solidFill>
              </a:defRPr>
            </a:pPr>
            <a:r>
              <a:t>• Explores active food listings and nearby NGOs on an interactive Leaflet map.</a:t>
            </a:r>
          </a:p>
          <a:p>
            <a:pPr>
              <a:spcBef>
                <a:spcPts val="800"/>
              </a:spcBef>
              <a:defRPr sz="1000">
                <a:solidFill>
                  <a:srgbClr val="334155"/>
                </a:solidFill>
              </a:defRPr>
            </a:pPr>
            <a:r>
              <a:t>• Filters by proximity radius (2 km, 5 km, 15 km) and dietary tags.</a:t>
            </a:r>
          </a:p>
          <a:p>
            <a:pPr>
              <a:spcBef>
                <a:spcPts val="800"/>
              </a:spcBef>
              <a:defRPr sz="1000">
                <a:solidFill>
                  <a:srgbClr val="334155"/>
                </a:solidFill>
              </a:defRPr>
            </a:pPr>
            <a:r>
              <a:t>• Reserves food batches with 1 click.</a:t>
            </a:r>
          </a:p>
          <a:p>
            <a:pPr>
              <a:spcBef>
                <a:spcPts val="800"/>
              </a:spcBef>
              <a:defRPr sz="1000">
                <a:solidFill>
                  <a:srgbClr val="334155"/>
                </a:solidFill>
              </a:defRPr>
            </a:pPr>
            <a:r>
              <a:t>• Receives a secure 6-digit pickup OTP on their screen.</a:t>
            </a:r>
          </a:p>
          <a:p>
            <a:pPr>
              <a:spcBef>
                <a:spcPts val="800"/>
              </a:spcBef>
              <a:defRPr sz="1000">
                <a:solidFill>
                  <a:srgbClr val="334155"/>
                </a:solidFill>
              </a:defRPr>
            </a:pPr>
            <a:r>
              <a:t>• Uses built-in turn-by-turn driving directions to reach the donor venue quickly.</a:t>
            </a:r>
          </a:p>
        </p:txBody>
      </p:sp>
      <p:sp>
        <p:nvSpPr>
          <p:cNvPr id="7" name="Rounded Rectangle 6"/>
          <p:cNvSpPr/>
          <p:nvPr/>
        </p:nvSpPr>
        <p:spPr>
          <a:xfrm>
            <a:off x="786384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D97706"/>
                </a:solidFill>
              </a:defRPr>
            </a:pPr>
            <a:r>
              <a:t>3. System Admin</a:t>
            </a:r>
          </a:p>
          <a:p>
            <a:pPr>
              <a:spcBef>
                <a:spcPts val="400"/>
              </a:spcBef>
              <a:defRPr sz="1050" b="1">
                <a:solidFill>
                  <a:srgbClr val="0F172A"/>
                </a:solidFill>
              </a:defRPr>
            </a:pPr>
            <a:r>
              <a:t>Platform Auditors &amp; Quality Monitors</a:t>
            </a:r>
          </a:p>
          <a:p>
            <a:pPr>
              <a:spcBef>
                <a:spcPts val="800"/>
              </a:spcBef>
              <a:defRPr sz="1000">
                <a:solidFill>
                  <a:srgbClr val="334155"/>
                </a:solidFill>
              </a:defRPr>
            </a:pPr>
            <a:r>
              <a:t>• Monitors global platform health and live activity.</a:t>
            </a:r>
          </a:p>
          <a:p>
            <a:pPr>
              <a:spcBef>
                <a:spcPts val="800"/>
              </a:spcBef>
              <a:defRPr sz="1000">
                <a:solidFill>
                  <a:srgbClr val="334155"/>
                </a:solidFill>
              </a:defRPr>
            </a:pPr>
            <a:r>
              <a:t>• Verifies credentials of newly registered donors and NGOs with 1 click.</a:t>
            </a:r>
          </a:p>
          <a:p>
            <a:pPr>
              <a:spcBef>
                <a:spcPts val="800"/>
              </a:spcBef>
              <a:defRPr sz="1000">
                <a:solidFill>
                  <a:srgbClr val="334155"/>
                </a:solidFill>
              </a:defRPr>
            </a:pPr>
            <a:r>
              <a:t>• Tracks cumulative community impact (total meals saved, CO2 diverted).</a:t>
            </a:r>
          </a:p>
          <a:p>
            <a:pPr>
              <a:spcBef>
                <a:spcPts val="800"/>
              </a:spcBef>
              <a:defRPr sz="1000">
                <a:solidFill>
                  <a:srgbClr val="334155"/>
                </a:solidFill>
              </a:defRPr>
            </a:pPr>
            <a:r>
              <a:t>• Ensures only genuine food partners and registered NGOs operate on the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a:t>
            </a:r>
            <a:r>
              <a:rPr lang="en-IN" dirty="0"/>
              <a:t> </a:t>
            </a:r>
            <a:r>
              <a:rPr dirty="0"/>
              <a:t>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Core Code Logic: How Key Features Work in Code</a:t>
            </a:r>
          </a:p>
        </p:txBody>
      </p:sp>
      <p:sp>
        <p:nvSpPr>
          <p:cNvPr id="5" name="Rounded Rectangle 4"/>
          <p:cNvSpPr/>
          <p:nvPr/>
        </p:nvSpPr>
        <p:spPr>
          <a:xfrm>
            <a:off x="731520" y="1645920"/>
            <a:ext cx="52120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182880" tIns="73152" rtlCol="0" anchor="ctr"/>
          <a:lstStyle/>
          <a:p>
            <a:pPr algn="ctr">
              <a:defRPr sz="1100" b="1">
                <a:solidFill>
                  <a:srgbClr val="059669"/>
                </a:solidFill>
              </a:defRPr>
            </a:pPr>
            <a:r>
              <a:t>💻 1. FOOD EXPIRY CRON (node-cron)</a:t>
            </a:r>
          </a:p>
        </p:txBody>
      </p:sp>
      <p:sp>
        <p:nvSpPr>
          <p:cNvPr id="6" name="Rounded Rectangle 5"/>
          <p:cNvSpPr/>
          <p:nvPr/>
        </p:nvSpPr>
        <p:spPr>
          <a:xfrm>
            <a:off x="731520" y="2011680"/>
            <a:ext cx="521208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a:defRPr sz="950">
                <a:solidFill>
                  <a:srgbClr val="F1F5F9"/>
                </a:solidFill>
                <a:latin typeface="Consolas"/>
              </a:defRPr>
            </a:pPr>
            <a:r>
              <a:t>// 1. AUTOMATED FOOD SAFETY CRON (server/src/index.js)</a:t>
            </a:r>
          </a:p>
          <a:p>
            <a:pPr>
              <a:defRPr sz="950">
                <a:solidFill>
                  <a:srgbClr val="F1F5F9"/>
                </a:solidFill>
                <a:latin typeface="Consolas"/>
              </a:defRPr>
            </a:pPr>
            <a:r>
              <a:t>// Runs automatically every 60 seconds in the background</a:t>
            </a:r>
          </a:p>
          <a:p>
            <a:pPr>
              <a:defRPr sz="950">
                <a:solidFill>
                  <a:srgbClr val="F1F5F9"/>
                </a:solidFill>
                <a:latin typeface="Consolas"/>
              </a:defRPr>
            </a:pPr>
            <a:r>
              <a:t>cron.schedule('* * * * *', () =&gt; {</a:t>
            </a:r>
          </a:p>
          <a:p>
            <a:pPr>
              <a:defRPr sz="950">
                <a:solidFill>
                  <a:srgbClr val="F1F5F9"/>
                </a:solidFill>
                <a:latin typeface="Consolas"/>
              </a:defRPr>
            </a:pPr>
            <a:r>
              <a:t>  // If current time &gt; food expiry time, mark it as 'expired'</a:t>
            </a:r>
          </a:p>
          <a:p>
            <a:pPr>
              <a:defRPr sz="950">
                <a:solidFill>
                  <a:srgbClr val="F1F5F9"/>
                </a:solidFill>
                <a:latin typeface="Consolas"/>
              </a:defRPr>
            </a:pPr>
            <a:r>
              <a:t>  db.expireUnsafeListings();</a:t>
            </a:r>
          </a:p>
          <a:p>
            <a:pPr>
              <a:defRPr sz="950">
                <a:solidFill>
                  <a:srgbClr val="F1F5F9"/>
                </a:solidFill>
                <a:latin typeface="Consolas"/>
              </a:defRPr>
            </a:pPr>
            <a:r>
              <a:t>});</a:t>
            </a:r>
          </a:p>
          <a:p>
            <a:pPr>
              <a:defRPr sz="950">
                <a:solidFill>
                  <a:srgbClr val="F1F5F9"/>
                </a:solidFill>
                <a:latin typeface="Consolas"/>
              </a:defRPr>
            </a:pPr>
            <a:endParaRPr/>
          </a:p>
          <a:p>
            <a:pPr>
              <a:defRPr sz="950">
                <a:solidFill>
                  <a:srgbClr val="F1F5F9"/>
                </a:solidFill>
                <a:latin typeface="Consolas"/>
              </a:defRPr>
            </a:pPr>
            <a:r>
              <a:t>// SQL Query: Auto-removes spoiled food from map</a:t>
            </a:r>
          </a:p>
          <a:p>
            <a:pPr>
              <a:defRPr sz="950">
                <a:solidFill>
                  <a:srgbClr val="F1F5F9"/>
                </a:solidFill>
                <a:latin typeface="Consolas"/>
              </a:defRPr>
            </a:pPr>
            <a:r>
              <a:t>UPDATE listings </a:t>
            </a:r>
          </a:p>
          <a:p>
            <a:pPr>
              <a:defRPr sz="950">
                <a:solidFill>
                  <a:srgbClr val="F1F5F9"/>
                </a:solidFill>
                <a:latin typeface="Consolas"/>
              </a:defRPr>
            </a:pPr>
            <a:r>
              <a:t>SET status = 'expired' </a:t>
            </a:r>
          </a:p>
          <a:p>
            <a:pPr>
              <a:defRPr sz="950">
                <a:solidFill>
                  <a:srgbClr val="F1F5F9"/>
                </a:solidFill>
                <a:latin typeface="Consolas"/>
              </a:defRPr>
            </a:pPr>
            <a:r>
              <a:t>WHERE status = 'pending' AND expires_at &lt;= NOW();</a:t>
            </a:r>
          </a:p>
        </p:txBody>
      </p:sp>
      <p:sp>
        <p:nvSpPr>
          <p:cNvPr id="7" name="Rounded Rectangle 6"/>
          <p:cNvSpPr/>
          <p:nvPr/>
        </p:nvSpPr>
        <p:spPr>
          <a:xfrm>
            <a:off x="6217920" y="1645920"/>
            <a:ext cx="52120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182880" tIns="73152" rtlCol="0" anchor="ctr"/>
          <a:lstStyle/>
          <a:p>
            <a:pPr algn="ctr">
              <a:defRPr sz="1100" b="1">
                <a:solidFill>
                  <a:srgbClr val="059669"/>
                </a:solidFill>
              </a:defRPr>
            </a:pPr>
            <a:r>
              <a:t>💻 2. FRAUD-PROOF OTP HANDOVER</a:t>
            </a:r>
          </a:p>
        </p:txBody>
      </p:sp>
      <p:sp>
        <p:nvSpPr>
          <p:cNvPr id="8" name="Rounded Rectangle 7"/>
          <p:cNvSpPr/>
          <p:nvPr/>
        </p:nvSpPr>
        <p:spPr>
          <a:xfrm>
            <a:off x="6217920" y="2011680"/>
            <a:ext cx="521208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a:defRPr sz="950">
                <a:solidFill>
                  <a:srgbClr val="F1F5F9"/>
                </a:solidFill>
                <a:latin typeface="Consolas"/>
              </a:defRPr>
            </a:pPr>
            <a:r>
              <a:t>// 2. 6-DIGIT OTP VERIFICATION (server/src/db.js)</a:t>
            </a:r>
          </a:p>
          <a:p>
            <a:pPr>
              <a:defRPr sz="950">
                <a:solidFill>
                  <a:srgbClr val="F1F5F9"/>
                </a:solidFill>
                <a:latin typeface="Consolas"/>
              </a:defRPr>
            </a:pPr>
            <a:r>
              <a:t>// When claimed, create random 6-digit OTP</a:t>
            </a:r>
          </a:p>
          <a:p>
            <a:pPr>
              <a:defRPr sz="950">
                <a:solidFill>
                  <a:srgbClr val="F1F5F9"/>
                </a:solidFill>
                <a:latin typeface="Consolas"/>
              </a:defRPr>
            </a:pPr>
            <a:r>
              <a:t>const otp = crypto.randomInt(100000, 999999).toString();</a:t>
            </a:r>
          </a:p>
          <a:p>
            <a:pPr>
              <a:defRPr sz="950">
                <a:solidFill>
                  <a:srgbClr val="F1F5F9"/>
                </a:solidFill>
                <a:latin typeface="Consolas"/>
              </a:defRPr>
            </a:pPr>
            <a:endParaRPr/>
          </a:p>
          <a:p>
            <a:pPr>
              <a:defRPr sz="950">
                <a:solidFill>
                  <a:srgbClr val="F1F5F9"/>
                </a:solidFill>
                <a:latin typeface="Consolas"/>
              </a:defRPr>
            </a:pPr>
            <a:r>
              <a:t>// When volunteer arrives, donor enters the OTP:</a:t>
            </a:r>
          </a:p>
          <a:p>
            <a:pPr>
              <a:defRPr sz="950">
                <a:solidFill>
                  <a:srgbClr val="F1F5F9"/>
                </a:solidFill>
                <a:latin typeface="Consolas"/>
              </a:defRPr>
            </a:pPr>
            <a:r>
              <a:t>if (listing.status === 'claimed' &amp;&amp; listing.otp === enteredOtp) {</a:t>
            </a:r>
          </a:p>
          <a:p>
            <a:pPr>
              <a:defRPr sz="950">
                <a:solidFill>
                  <a:srgbClr val="F1F5F9"/>
                </a:solidFill>
                <a:latin typeface="Consolas"/>
              </a:defRPr>
            </a:pPr>
            <a:r>
              <a:t>  listing.status = 'picked_up'; // SUCCESS! Handover complete</a:t>
            </a:r>
          </a:p>
          <a:p>
            <a:pPr>
              <a:defRPr sz="950">
                <a:solidFill>
                  <a:srgbClr val="F1F5F9"/>
                </a:solidFill>
                <a:latin typeface="Consolas"/>
              </a:defRPr>
            </a:pPr>
            <a:r>
              <a:t>} else {</a:t>
            </a:r>
          </a:p>
          <a:p>
            <a:pPr>
              <a:defRPr sz="950">
                <a:solidFill>
                  <a:srgbClr val="F1F5F9"/>
                </a:solidFill>
                <a:latin typeface="Consolas"/>
              </a:defRPr>
            </a:pPr>
            <a:r>
              <a:t>  throw new Error('Invalid OTP! Food cannot be handed over');</a:t>
            </a:r>
          </a:p>
          <a:p>
            <a:pPr>
              <a:defRPr sz="950">
                <a:solidFill>
                  <a:srgbClr val="F1F5F9"/>
                </a:solidFill>
                <a:latin typeface="Consolas"/>
              </a:defRPr>
            </a:pPr>
            <a:r>
              <a:t>}</a:t>
            </a:r>
          </a:p>
        </p:txBody>
      </p:sp>
      <p:sp>
        <p:nvSpPr>
          <p:cNvPr id="9" name="Rounded Rectangle 8"/>
          <p:cNvSpPr/>
          <p:nvPr/>
        </p:nvSpPr>
        <p:spPr>
          <a:xfrm>
            <a:off x="731520" y="4114800"/>
            <a:ext cx="52120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182880" tIns="73152" rtlCol="0" anchor="ctr"/>
          <a:lstStyle/>
          <a:p>
            <a:pPr algn="ctr">
              <a:defRPr sz="1100" b="1">
                <a:solidFill>
                  <a:srgbClr val="059669"/>
                </a:solidFill>
              </a:defRPr>
            </a:pPr>
            <a:r>
              <a:t>💻 3. PROXIMITY DISTANCE (Haversine)</a:t>
            </a:r>
          </a:p>
        </p:txBody>
      </p:sp>
      <p:sp>
        <p:nvSpPr>
          <p:cNvPr id="10" name="Rounded Rectangle 9"/>
          <p:cNvSpPr/>
          <p:nvPr/>
        </p:nvSpPr>
        <p:spPr>
          <a:xfrm>
            <a:off x="731520" y="4480560"/>
            <a:ext cx="5212080" cy="1828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a:defRPr sz="950">
                <a:solidFill>
                  <a:srgbClr val="F1F5F9"/>
                </a:solidFill>
                <a:latin typeface="Consolas"/>
              </a:defRPr>
            </a:pPr>
            <a:r>
              <a:t>// 3. HAVERSINE DISTANCE FORMULA (server/src/db.js)</a:t>
            </a:r>
          </a:p>
          <a:p>
            <a:pPr>
              <a:defRPr sz="950">
                <a:solidFill>
                  <a:srgbClr val="F1F5F9"/>
                </a:solidFill>
                <a:latin typeface="Consolas"/>
              </a:defRPr>
            </a:pPr>
            <a:r>
              <a:t>// Calculates real-world km distance using latitude &amp; longitude</a:t>
            </a:r>
          </a:p>
          <a:p>
            <a:pPr>
              <a:defRPr sz="950">
                <a:solidFill>
                  <a:srgbClr val="F1F5F9"/>
                </a:solidFill>
                <a:latin typeface="Consolas"/>
              </a:defRPr>
            </a:pPr>
            <a:r>
              <a:t>function distanceKm(lat1, lon1, lat2, lon2) {</a:t>
            </a:r>
          </a:p>
          <a:p>
            <a:pPr>
              <a:defRPr sz="950">
                <a:solidFill>
                  <a:srgbClr val="F1F5F9"/>
                </a:solidFill>
                <a:latin typeface="Consolas"/>
              </a:defRPr>
            </a:pPr>
            <a:r>
              <a:t>  const R = 6371; // Earth's radius in kilometers</a:t>
            </a:r>
          </a:p>
          <a:p>
            <a:pPr>
              <a:defRPr sz="950">
                <a:solidFill>
                  <a:srgbClr val="F1F5F9"/>
                </a:solidFill>
                <a:latin typeface="Consolas"/>
              </a:defRPr>
            </a:pPr>
            <a:r>
              <a:t>  const dLat = (lat2 - lat1) * Math.PI / 180;</a:t>
            </a:r>
          </a:p>
          <a:p>
            <a:pPr>
              <a:defRPr sz="950">
                <a:solidFill>
                  <a:srgbClr val="F1F5F9"/>
                </a:solidFill>
                <a:latin typeface="Consolas"/>
              </a:defRPr>
            </a:pPr>
            <a:r>
              <a:t>  const dLon = (lon2 - lon1) * Math.PI / 180;</a:t>
            </a:r>
          </a:p>
          <a:p>
            <a:pPr>
              <a:defRPr sz="950">
                <a:solidFill>
                  <a:srgbClr val="F1F5F9"/>
                </a:solidFill>
                <a:latin typeface="Consolas"/>
              </a:defRPr>
            </a:pPr>
            <a:r>
              <a:t>  const a = Math.sin(dLat/2)**2 + Math.cos(lat1*Math.PI/180) * </a:t>
            </a:r>
          </a:p>
          <a:p>
            <a:pPr>
              <a:defRPr sz="950">
                <a:solidFill>
                  <a:srgbClr val="F1F5F9"/>
                </a:solidFill>
                <a:latin typeface="Consolas"/>
              </a:defRPr>
            </a:pPr>
            <a:r>
              <a:t>            Math.cos(lat2*Math.PI/180) * Math.sin(dLon/2)**2;</a:t>
            </a:r>
          </a:p>
          <a:p>
            <a:pPr>
              <a:defRPr sz="950">
                <a:solidFill>
                  <a:srgbClr val="F1F5F9"/>
                </a:solidFill>
                <a:latin typeface="Consolas"/>
              </a:defRPr>
            </a:pPr>
            <a:r>
              <a:t>  return Number((R * 2 * Math.atan2(Math.sqrt(a), Math.sqrt(1-a))).toFixed(1));</a:t>
            </a:r>
          </a:p>
          <a:p>
            <a:pPr>
              <a:defRPr sz="950">
                <a:solidFill>
                  <a:srgbClr val="F1F5F9"/>
                </a:solidFill>
                <a:latin typeface="Consolas"/>
              </a:defRPr>
            </a:pPr>
            <a:r>
              <a:t>}</a:t>
            </a:r>
          </a:p>
        </p:txBody>
      </p:sp>
      <p:sp>
        <p:nvSpPr>
          <p:cNvPr id="11" name="Rounded Rectangle 10"/>
          <p:cNvSpPr/>
          <p:nvPr/>
        </p:nvSpPr>
        <p:spPr>
          <a:xfrm>
            <a:off x="6217920" y="4114800"/>
            <a:ext cx="52120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lIns="182880" tIns="73152" rtlCol="0" anchor="ctr"/>
          <a:lstStyle/>
          <a:p>
            <a:pPr algn="ctr">
              <a:defRPr sz="1100" b="1">
                <a:solidFill>
                  <a:srgbClr val="059669"/>
                </a:solidFill>
              </a:defRPr>
            </a:pPr>
            <a:r>
              <a:t>💻 4. LIVE NGO DISCOVERY (OpenStreetMap)</a:t>
            </a:r>
          </a:p>
        </p:txBody>
      </p:sp>
      <p:sp>
        <p:nvSpPr>
          <p:cNvPr id="12" name="Rounded Rectangle 11"/>
          <p:cNvSpPr/>
          <p:nvPr/>
        </p:nvSpPr>
        <p:spPr>
          <a:xfrm>
            <a:off x="6217920" y="4480560"/>
            <a:ext cx="5212080" cy="1828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09728" rIns="182880" bIns="109728" rtlCol="0" anchor="ctr"/>
          <a:lstStyle/>
          <a:p>
            <a:pPr algn="ctr">
              <a:defRPr sz="950">
                <a:solidFill>
                  <a:srgbClr val="F1F5F9"/>
                </a:solidFill>
                <a:latin typeface="Consolas"/>
              </a:defRPr>
            </a:pPr>
            <a:r>
              <a:t>// 4. REAL-TIME NEARBY NGO DISCOVERY (osmService.js)</a:t>
            </a:r>
          </a:p>
          <a:p>
            <a:pPr>
              <a:defRPr sz="950">
                <a:solidFill>
                  <a:srgbClr val="F1F5F9"/>
                </a:solidFill>
                <a:latin typeface="Consolas"/>
              </a:defRPr>
            </a:pPr>
            <a:r>
              <a:t>// Free OpenStreetMap API queries live charities near user GPS</a:t>
            </a:r>
          </a:p>
          <a:p>
            <a:pPr>
              <a:defRPr sz="950">
                <a:solidFill>
                  <a:srgbClr val="F1F5F9"/>
                </a:solidFill>
                <a:latin typeface="Consolas"/>
              </a:defRPr>
            </a:pPr>
            <a:r>
              <a:t>const query = `</a:t>
            </a:r>
          </a:p>
          <a:p>
            <a:pPr>
              <a:defRPr sz="950">
                <a:solidFill>
                  <a:srgbClr val="F1F5F9"/>
                </a:solidFill>
                <a:latin typeface="Consolas"/>
              </a:defRPr>
            </a:pPr>
            <a:r>
              <a:t>  node["office"="ngo"](around:${radiusMeters}, ${lat}, ${lng});</a:t>
            </a:r>
          </a:p>
          <a:p>
            <a:pPr>
              <a:defRPr sz="950">
                <a:solidFill>
                  <a:srgbClr val="F1F5F9"/>
                </a:solidFill>
                <a:latin typeface="Consolas"/>
              </a:defRPr>
            </a:pPr>
            <a:r>
              <a:t>  node["social_facility"="soup_kitchen"](around:${radiusMeters}, ${lat}, ${lng});</a:t>
            </a:r>
          </a:p>
          <a:p>
            <a:pPr>
              <a:defRPr sz="950">
                <a:solidFill>
                  <a:srgbClr val="F1F5F9"/>
                </a:solidFill>
                <a:latin typeface="Consolas"/>
              </a:defRPr>
            </a:pPr>
            <a:r>
              <a:t>`;</a:t>
            </a:r>
          </a:p>
          <a:p>
            <a:pPr>
              <a:defRPr sz="950">
                <a:solidFill>
                  <a:srgbClr val="F1F5F9"/>
                </a:solidFill>
                <a:latin typeface="Consolas"/>
              </a:defRPr>
            </a:pPr>
            <a:r>
              <a:t>const res = await fetch('https://overpass-api.de/api/interpreter', {</a:t>
            </a:r>
          </a:p>
          <a:p>
            <a:pPr>
              <a:defRPr sz="950">
                <a:solidFill>
                  <a:srgbClr val="F1F5F9"/>
                </a:solidFill>
                <a:latin typeface="Consolas"/>
              </a:defRPr>
            </a:pPr>
            <a:r>
              <a:t>  body: `data=${encodeURIComponent(query)}`</a:t>
            </a:r>
          </a:p>
          <a:p>
            <a:pPr>
              <a:defRPr sz="950">
                <a:solidFill>
                  <a:srgbClr val="F1F5F9"/>
                </a:solidFill>
                <a:latin typeface="Consolas"/>
              </a:defRPr>
            </a:pPr>
            <a: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 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System Architecture: How the Technologies Connect Together</a:t>
            </a:r>
          </a:p>
        </p:txBody>
      </p:sp>
      <p:sp>
        <p:nvSpPr>
          <p:cNvPr id="5" name="Rounded Rectangle 4"/>
          <p:cNvSpPr/>
          <p:nvPr/>
        </p:nvSpPr>
        <p:spPr>
          <a:xfrm>
            <a:off x="73152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2563EB"/>
                </a:solidFill>
              </a:defRPr>
            </a:pPr>
            <a:r>
              <a:t>1. Frontend UI</a:t>
            </a:r>
          </a:p>
          <a:p>
            <a:pPr>
              <a:spcBef>
                <a:spcPts val="300"/>
              </a:spcBef>
              <a:defRPr sz="1100" b="1">
                <a:solidFill>
                  <a:srgbClr val="0F172A"/>
                </a:solidFill>
              </a:defRPr>
            </a:pPr>
            <a:r>
              <a:t>React 19 + Tailwind CSS</a:t>
            </a:r>
          </a:p>
          <a:p>
            <a:pPr>
              <a:spcBef>
                <a:spcPts val="800"/>
              </a:spcBef>
              <a:defRPr sz="1000">
                <a:solidFill>
                  <a:srgbClr val="334155"/>
                </a:solidFill>
              </a:defRPr>
            </a:pPr>
            <a:r>
              <a:t>• Fast single-page application built with Vite.</a:t>
            </a:r>
          </a:p>
          <a:p>
            <a:pPr>
              <a:spcBef>
                <a:spcPts val="800"/>
              </a:spcBef>
              <a:defRPr sz="1000">
                <a:solidFill>
                  <a:srgbClr val="334155"/>
                </a:solidFill>
              </a:defRPr>
            </a:pPr>
            <a:r>
              <a:t>• Interactive map using Leaflet and React-Leaflet.</a:t>
            </a:r>
          </a:p>
          <a:p>
            <a:pPr>
              <a:spcBef>
                <a:spcPts val="800"/>
              </a:spcBef>
              <a:defRPr sz="1000">
                <a:solidFill>
                  <a:srgbClr val="334155"/>
                </a:solidFill>
              </a:defRPr>
            </a:pPr>
            <a:r>
              <a:t>• Custom map pins: Orange for food, Blue for NGOs, Emerald for restaurants, and Pulsing Blue for live GPS.</a:t>
            </a:r>
          </a:p>
          <a:p>
            <a:pPr>
              <a:spcBef>
                <a:spcPts val="800"/>
              </a:spcBef>
              <a:defRPr sz="1000">
                <a:solidFill>
                  <a:srgbClr val="334155"/>
                </a:solidFill>
              </a:defRPr>
            </a:pPr>
            <a:r>
              <a:t>• Real-time countdown timer warns users of remaining freshness.</a:t>
            </a:r>
          </a:p>
        </p:txBody>
      </p:sp>
      <p:sp>
        <p:nvSpPr>
          <p:cNvPr id="6" name="Rounded Rectangle 5"/>
          <p:cNvSpPr/>
          <p:nvPr/>
        </p:nvSpPr>
        <p:spPr>
          <a:xfrm>
            <a:off x="429768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065F46"/>
                </a:solidFill>
              </a:defRPr>
            </a:pPr>
            <a:r>
              <a:t>2. Backend API</a:t>
            </a:r>
          </a:p>
          <a:p>
            <a:pPr>
              <a:spcBef>
                <a:spcPts val="300"/>
              </a:spcBef>
              <a:defRPr sz="1100" b="1">
                <a:solidFill>
                  <a:srgbClr val="0F172A"/>
                </a:solidFill>
              </a:defRPr>
            </a:pPr>
            <a:r>
              <a:t>Node.js + Express 5</a:t>
            </a:r>
          </a:p>
          <a:p>
            <a:pPr>
              <a:spcBef>
                <a:spcPts val="800"/>
              </a:spcBef>
              <a:defRPr sz="1000">
                <a:solidFill>
                  <a:srgbClr val="334155"/>
                </a:solidFill>
              </a:defRPr>
            </a:pPr>
            <a:r>
              <a:t>• REST API endpoints for listings, authentication, and NGOs.</a:t>
            </a:r>
          </a:p>
          <a:p>
            <a:pPr>
              <a:spcBef>
                <a:spcPts val="800"/>
              </a:spcBef>
              <a:defRPr sz="1000">
                <a:solidFill>
                  <a:srgbClr val="334155"/>
                </a:solidFill>
              </a:defRPr>
            </a:pPr>
            <a:r>
              <a:t>• Role-Based Access Control using JWT tokens and bcrypt password hashing.</a:t>
            </a:r>
          </a:p>
          <a:p>
            <a:pPr>
              <a:spcBef>
                <a:spcPts val="800"/>
              </a:spcBef>
              <a:defRPr sz="1000">
                <a:solidFill>
                  <a:srgbClr val="334155"/>
                </a:solidFill>
              </a:defRPr>
            </a:pPr>
            <a:r>
              <a:t>• Free routing proxy using OSRM for turn-by-turn driving polylines.</a:t>
            </a:r>
          </a:p>
          <a:p>
            <a:pPr>
              <a:spcBef>
                <a:spcPts val="800"/>
              </a:spcBef>
              <a:defRPr sz="1000">
                <a:solidFill>
                  <a:srgbClr val="334155"/>
                </a:solidFill>
              </a:defRPr>
            </a:pPr>
            <a:r>
              <a:t>• Automated cron scheduler managing public health compliance.</a:t>
            </a:r>
          </a:p>
        </p:txBody>
      </p:sp>
      <p:sp>
        <p:nvSpPr>
          <p:cNvPr id="7" name="Rounded Rectangle 6"/>
          <p:cNvSpPr/>
          <p:nvPr/>
        </p:nvSpPr>
        <p:spPr>
          <a:xfrm>
            <a:off x="786384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28600" tIns="228600" rIns="228600" rtlCol="0" anchor="ctr"/>
          <a:lstStyle/>
          <a:p>
            <a:pPr algn="ctr">
              <a:defRPr sz="1400" b="1">
                <a:solidFill>
                  <a:srgbClr val="D97706"/>
                </a:solidFill>
              </a:defRPr>
            </a:pPr>
            <a:r>
              <a:t>3. Database Engine</a:t>
            </a:r>
          </a:p>
          <a:p>
            <a:pPr>
              <a:spcBef>
                <a:spcPts val="300"/>
              </a:spcBef>
              <a:defRPr sz="1100" b="1">
                <a:solidFill>
                  <a:srgbClr val="0F172A"/>
                </a:solidFill>
              </a:defRPr>
            </a:pPr>
            <a:r>
              <a:t>PostgreSQL &amp; Zero-Config Mode</a:t>
            </a:r>
          </a:p>
          <a:p>
            <a:pPr>
              <a:spcBef>
                <a:spcPts val="800"/>
              </a:spcBef>
              <a:defRPr sz="1000">
                <a:solidFill>
                  <a:srgbClr val="334155"/>
                </a:solidFill>
              </a:defRPr>
            </a:pPr>
            <a:r>
              <a:t>• Relational database storing users, listings, ngos, and donors.</a:t>
            </a:r>
          </a:p>
          <a:p>
            <a:pPr>
              <a:spcBef>
                <a:spcPts val="800"/>
              </a:spcBef>
              <a:defRPr sz="1000">
                <a:solidFill>
                  <a:srgbClr val="334155"/>
                </a:solidFill>
              </a:defRPr>
            </a:pPr>
            <a:r>
              <a:t>• Enforces data integrity (foreign keys, timestamps, unique emails).</a:t>
            </a:r>
          </a:p>
          <a:p>
            <a:pPr>
              <a:spcBef>
                <a:spcPts val="800"/>
              </a:spcBef>
              <a:defRPr sz="1000">
                <a:solidFill>
                  <a:srgbClr val="334155"/>
                </a:solidFill>
              </a:defRPr>
            </a:pPr>
            <a:r>
              <a:t>• Dual-Mode: Automatically uses PostgreSQL, but if offline, gracefully switches to built-in store so the app never crashes.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515600" cy="169277"/>
          </a:xfrm>
          <a:prstGeom prst="rect">
            <a:avLst/>
          </a:prstGeom>
          <a:noFill/>
        </p:spPr>
        <p:txBody>
          <a:bodyPr wrap="square" lIns="0" tIns="0" rIns="0" bIns="0">
            <a:spAutoFit/>
          </a:bodyPr>
          <a:lstStyle/>
          <a:p>
            <a:pPr>
              <a:defRPr sz="1100" b="1">
                <a:solidFill>
                  <a:srgbClr val="065F46"/>
                </a:solidFill>
              </a:defRPr>
            </a:pPr>
            <a:r>
              <a:rPr dirty="0"/>
              <a:t>SHAREBITE •</a:t>
            </a:r>
            <a:r>
              <a:rPr lang="en-IN" dirty="0"/>
              <a:t> </a:t>
            </a:r>
            <a:r>
              <a:rPr dirty="0"/>
              <a:t>PRESENTATION</a:t>
            </a:r>
          </a:p>
        </p:txBody>
      </p:sp>
      <p:sp>
        <p:nvSpPr>
          <p:cNvPr id="4" name="TextBox 3"/>
          <p:cNvSpPr txBox="1"/>
          <p:nvPr/>
        </p:nvSpPr>
        <p:spPr>
          <a:xfrm>
            <a:off x="731520" y="685800"/>
            <a:ext cx="10515600" cy="594360"/>
          </a:xfrm>
          <a:prstGeom prst="rect">
            <a:avLst/>
          </a:prstGeom>
          <a:noFill/>
        </p:spPr>
        <p:txBody>
          <a:bodyPr wrap="square" lIns="0" tIns="0" rIns="0" bIns="0">
            <a:spAutoFit/>
          </a:bodyPr>
          <a:lstStyle/>
          <a:p>
            <a:pPr>
              <a:defRPr sz="2400" b="1">
                <a:solidFill>
                  <a:srgbClr val="0F172A"/>
                </a:solidFill>
              </a:defRPr>
            </a:pPr>
            <a:r>
              <a:t>Future Enhancements: What We Plan to Add Next</a:t>
            </a:r>
          </a:p>
        </p:txBody>
      </p:sp>
      <p:sp>
        <p:nvSpPr>
          <p:cNvPr id="5" name="Rounded Rectangle 4"/>
          <p:cNvSpPr/>
          <p:nvPr/>
        </p:nvSpPr>
        <p:spPr>
          <a:xfrm>
            <a:off x="731520" y="1645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r>
              <a:rPr sz="1100" b="1">
                <a:solidFill>
                  <a:srgbClr val="065F46"/>
                </a:solidFill>
              </a:rPr>
              <a:t>🔔 WEBSOCKETS  —  </a:t>
            </a:r>
            <a:r>
              <a:rPr sz="1200" b="1">
                <a:solidFill>
                  <a:srgbClr val="0F172A"/>
                </a:solidFill>
              </a:rPr>
              <a:t>1. Real-Time Push Notifications (WebSockets)</a:t>
            </a:r>
          </a:p>
          <a:p>
            <a:pPr>
              <a:spcBef>
                <a:spcPts val="300"/>
              </a:spcBef>
              <a:defRPr sz="1000">
                <a:solidFill>
                  <a:srgbClr val="334155"/>
                </a:solidFill>
              </a:defRPr>
            </a:pPr>
            <a:r>
              <a:t>Instead of refreshing the page, volunteers will receive instant mobile push and audio notifications the moment a restaurant within 5 km lists food.</a:t>
            </a:r>
          </a:p>
        </p:txBody>
      </p:sp>
      <p:sp>
        <p:nvSpPr>
          <p:cNvPr id="6" name="Rounded Rectangle 5"/>
          <p:cNvSpPr/>
          <p:nvPr/>
        </p:nvSpPr>
        <p:spPr>
          <a:xfrm>
            <a:off x="731520" y="2788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r>
              <a:rPr sz="1100" b="1">
                <a:solidFill>
                  <a:srgbClr val="065F46"/>
                </a:solidFill>
              </a:rPr>
              <a:t>📱 MOBILE APP  —  </a:t>
            </a:r>
            <a:r>
              <a:rPr sz="1200" b="1">
                <a:solidFill>
                  <a:srgbClr val="0F172A"/>
                </a:solidFill>
              </a:rPr>
              <a:t>2. Dedicated Mobile App (React Native / PWA)</a:t>
            </a:r>
          </a:p>
          <a:p>
            <a:pPr>
              <a:spcBef>
                <a:spcPts val="300"/>
              </a:spcBef>
              <a:defRPr sz="1000">
                <a:solidFill>
                  <a:srgbClr val="334155"/>
                </a:solidFill>
              </a:defRPr>
            </a:pPr>
            <a:r>
              <a:t>Developing an installable mobile app with background GPS tracking so delivery volunteers on two-wheelers can accept pickups seamlessly on the road.</a:t>
            </a:r>
          </a:p>
        </p:txBody>
      </p:sp>
      <p:sp>
        <p:nvSpPr>
          <p:cNvPr id="7" name="Rounded Rectangle 6"/>
          <p:cNvSpPr/>
          <p:nvPr/>
        </p:nvSpPr>
        <p:spPr>
          <a:xfrm>
            <a:off x="731520" y="3931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r>
              <a:rPr sz="1100" b="1">
                <a:solidFill>
                  <a:srgbClr val="065F46"/>
                </a:solidFill>
              </a:rPr>
              <a:t>🌡️ IOT SENSORS  —  </a:t>
            </a:r>
            <a:r>
              <a:rPr sz="1200" b="1">
                <a:solidFill>
                  <a:srgbClr val="0F172A"/>
                </a:solidFill>
              </a:rPr>
              <a:t>3. IoT Cold-Chain Temperature Sensors</a:t>
            </a:r>
          </a:p>
          <a:p>
            <a:pPr>
              <a:spcBef>
                <a:spcPts val="300"/>
              </a:spcBef>
              <a:defRPr sz="1000">
                <a:solidFill>
                  <a:srgbClr val="334155"/>
                </a:solidFill>
              </a:defRPr>
            </a:pPr>
            <a:r>
              <a:t>Testing Bluetooth temperature probes inside delivery bags to guarantee chilled or warm food stays within safe thermal limits during transit.</a:t>
            </a:r>
          </a:p>
        </p:txBody>
      </p:sp>
      <p:sp>
        <p:nvSpPr>
          <p:cNvPr id="8" name="Rounded Rectangle 7"/>
          <p:cNvSpPr/>
          <p:nvPr/>
        </p:nvSpPr>
        <p:spPr>
          <a:xfrm>
            <a:off x="731520" y="5074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lIns="274320" tIns="137160" rtlCol="0" anchor="ctr"/>
          <a:lstStyle/>
          <a:p>
            <a:pPr algn="ctr"/>
            <a:r>
              <a:rPr sz="1100" b="1">
                <a:solidFill>
                  <a:srgbClr val="065F46"/>
                </a:solidFill>
              </a:rPr>
              <a:t>🤖 AI PREDICTION  —  </a:t>
            </a:r>
            <a:r>
              <a:rPr sz="1200" b="1">
                <a:solidFill>
                  <a:srgbClr val="0F172A"/>
                </a:solidFill>
              </a:rPr>
              <a:t>4. AI Surplus Demand Prediction</a:t>
            </a:r>
          </a:p>
          <a:p>
            <a:pPr>
              <a:spcBef>
                <a:spcPts val="300"/>
              </a:spcBef>
              <a:defRPr sz="1000">
                <a:solidFill>
                  <a:srgbClr val="334155"/>
                </a:solidFill>
              </a:defRPr>
            </a:pPr>
            <a:r>
              <a:t>Analyzing historical restaurant donation patterns using machine learning to predict excess food quantities before the day even ends.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00150" y="731520"/>
            <a:ext cx="9418320" cy="1828800"/>
          </a:xfrm>
          <a:prstGeom prst="rect">
            <a:avLst/>
          </a:prstGeom>
          <a:noFill/>
        </p:spPr>
        <p:txBody>
          <a:bodyPr wrap="square">
            <a:spAutoFit/>
          </a:bodyPr>
          <a:lstStyle/>
          <a:p>
            <a:pPr>
              <a:defRPr sz="4400" b="1">
                <a:solidFill>
                  <a:srgbClr val="FFFFFF"/>
                </a:solidFill>
              </a:defRPr>
            </a:pPr>
            <a:r>
              <a:rPr dirty="0"/>
              <a:t>Thank You!</a:t>
            </a:r>
          </a:p>
          <a:p>
            <a:pPr>
              <a:spcBef>
                <a:spcPts val="800"/>
              </a:spcBef>
              <a:defRPr sz="1800">
                <a:solidFill>
                  <a:srgbClr val="059669"/>
                </a:solidFill>
              </a:defRPr>
            </a:pPr>
            <a:r>
              <a:rPr dirty="0" err="1"/>
              <a:t>ShareBite</a:t>
            </a:r>
            <a:r>
              <a:rPr dirty="0"/>
              <a:t>: Technology Feeding Communities &amp; Eliminating Food Waste</a:t>
            </a:r>
          </a:p>
        </p:txBody>
      </p:sp>
      <p:sp>
        <p:nvSpPr>
          <p:cNvPr id="4" name="Rounded Rectangle 3"/>
          <p:cNvSpPr/>
          <p:nvPr/>
        </p:nvSpPr>
        <p:spPr>
          <a:xfrm>
            <a:off x="1085850" y="3000375"/>
            <a:ext cx="94183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lIns="365760" tIns="274320" rtlCol="0" anchor="ctr"/>
          <a:lstStyle/>
          <a:p>
            <a:pPr algn="ctr">
              <a:defRPr sz="1600" b="1">
                <a:solidFill>
                  <a:srgbClr val="FFFFFF"/>
                </a:solidFill>
              </a:defRPr>
            </a:pPr>
            <a:r>
              <a:rPr dirty="0"/>
              <a:t>Project Team: Varun  &amp;  Neha</a:t>
            </a:r>
          </a:p>
          <a:p>
            <a:pPr>
              <a:spcBef>
                <a:spcPts val="600"/>
              </a:spcBef>
              <a:defRPr sz="1200">
                <a:solidFill>
                  <a:srgbClr val="F1F5F9"/>
                </a:solidFill>
              </a:defRPr>
            </a:pPr>
            <a:r>
              <a:rPr dirty="0"/>
              <a:t>• Fully functional working system running locally on React 19 + Node.js Express 5</a:t>
            </a:r>
          </a:p>
          <a:p>
            <a:pPr>
              <a:spcBef>
                <a:spcPts val="400"/>
              </a:spcBef>
              <a:defRPr sz="1200">
                <a:solidFill>
                  <a:srgbClr val="F1F5F9"/>
                </a:solidFill>
              </a:defRPr>
            </a:pPr>
            <a:r>
              <a:rPr dirty="0"/>
              <a:t>• Complete Software Requirements Specification (SRS) documented under IEEE Std 830-1998</a:t>
            </a:r>
          </a:p>
          <a:p>
            <a:pPr>
              <a:spcBef>
                <a:spcPts val="600"/>
              </a:spcBef>
              <a:defRPr sz="1300" b="1">
                <a:solidFill>
                  <a:srgbClr val="059669"/>
                </a:solidFill>
              </a:defRPr>
            </a:pPr>
            <a:r>
              <a:rPr dirty="0"/>
              <a:t>We are now open for your questions and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TotalTime>
  <Words>2279</Words>
  <Application>Microsoft Office PowerPoint</Application>
  <PresentationFormat>Widescreen</PresentationFormat>
  <Paragraphs>182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varun kumar</cp:lastModifiedBy>
  <cp:revision>2</cp:revision>
  <dcterms:created xsi:type="dcterms:W3CDTF">2013-01-27T09:14:16Z</dcterms:created>
  <dcterms:modified xsi:type="dcterms:W3CDTF">2026-09-29T13:37:03Z</dcterms:modified>
  <cp:category/>
</cp:coreProperties>
</file>